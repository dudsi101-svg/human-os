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Human OS to nie system operacyjny w potocznym sensie. To protokół konstytucyjny wraz z referencyjną implementacją w Pythonie. Repozytorium jest silnikiem referencyjnym — częścią szerszej inicjatywy, nie jej całością.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Sześć zobowiązań i sześć jawnych zakazów tożsamościowych z Konstytucji 0.2.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Kryterium z README: „Human OS succeeds as dependence decreases…”.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Źródło: ECOSYSTEM.md — kolejność zależności warstw.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GEN-012 wyróżniony, bo to jedyny gen, który każe systemowi dążyć do własnego zaniku.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proof.rules.json v0.2.0; implementacja w hos_engine/policy.py.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Bramy 1–6 to twarde gate'y; runtime agentów ma dodatkową bramę zatwierdzenia przez człowieka.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R1–R4 to skala ryzyka Konstytucji. Odmowa jest tu wyjątkiem (RecoveryRefused) — zignorowana ochrona nie może wyglądać jak ochrona działająca.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ADR-DECISION-001..005; implementacja hos_engine/decision_engine.py. Sponsorowanie i etykiety użytkownika są strukturalnie odcięte od rankingu.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Pasma pewności pokazywane są jako LOW/MEDIUM/HIGH, nigdy jako surowa liczba.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Uczciwość co do dojrzałości jest sama w sobie wymogiem konstytucyjnym (GEN-015, transparentność wpływu i ograniczeń).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Liczby policzone z repozytorium: moduły, metody testowe, schematy, ADR-y.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ROADMAP.md; kryterium 0.9 zmienione decyzją foundera 2026-08-17 (DD-008).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Slajd zamykający: wracamy do kryterium sukcesu ze slajdu 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5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18120" y="1234440"/>
            <a:ext cx="3566160" cy="566928"/>
          </a:xfrm>
          <a:prstGeom prst="roundRect">
            <a:avLst>
              <a:gd name="adj" fmla="val 8065"/>
            </a:avLst>
          </a:prstGeom>
          <a:solidFill>
            <a:srgbClr val="1B2450"/>
          </a:solidFill>
          <a:ln w="12700">
            <a:solidFill>
              <a:srgbClr val="2B356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818120" y="1234440"/>
            <a:ext cx="3566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7964424" y="1984248"/>
            <a:ext cx="3273552" cy="566928"/>
          </a:xfrm>
          <a:prstGeom prst="roundRect">
            <a:avLst>
              <a:gd name="adj" fmla="val 8065"/>
            </a:avLst>
          </a:prstGeom>
          <a:solidFill>
            <a:srgbClr val="1B2450"/>
          </a:solidFill>
          <a:ln w="12700">
            <a:solidFill>
              <a:srgbClr val="2B356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964424" y="1984248"/>
            <a:ext cx="3273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SDK / Hub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8110728" y="2734056"/>
            <a:ext cx="2980944" cy="566928"/>
          </a:xfrm>
          <a:prstGeom prst="roundRect">
            <a:avLst>
              <a:gd name="adj" fmla="val 8065"/>
            </a:avLst>
          </a:prstGeom>
          <a:solidFill>
            <a:srgbClr val="1B2450"/>
          </a:solidFill>
          <a:ln w="12700">
            <a:solidFill>
              <a:srgbClr val="2B356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110728" y="2734056"/>
            <a:ext cx="29809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8257032" y="3483864"/>
            <a:ext cx="2688336" cy="566928"/>
          </a:xfrm>
          <a:prstGeom prst="roundRect">
            <a:avLst>
              <a:gd name="adj" fmla="val 8065"/>
            </a:avLst>
          </a:prstGeom>
          <a:solidFill>
            <a:srgbClr val="1B2450"/>
          </a:solidFill>
          <a:ln w="12700">
            <a:solidFill>
              <a:srgbClr val="2B356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57032" y="3483864"/>
            <a:ext cx="26883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HOSS / HOSP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403336" y="4233672"/>
            <a:ext cx="2395728" cy="566928"/>
          </a:xfrm>
          <a:prstGeom prst="roundRect">
            <a:avLst>
              <a:gd name="adj" fmla="val 8065"/>
            </a:avLst>
          </a:prstGeom>
          <a:solidFill>
            <a:srgbClr val="D99A2B"/>
          </a:solidFill>
          <a:ln w="12700">
            <a:solidFill>
              <a:srgbClr val="D99A2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403336" y="4233672"/>
            <a:ext cx="23957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Constitution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0080" y="1783080"/>
            <a:ext cx="6766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Human OS</a:t>
            </a:r>
            <a:endParaRPr lang="en-US" sz="6000" dirty="0"/>
          </a:p>
        </p:txBody>
      </p:sp>
      <p:sp>
        <p:nvSpPr>
          <p:cNvPr id="13" name="Text 11"/>
          <p:cNvSpPr/>
          <p:nvPr/>
        </p:nvSpPr>
        <p:spPr>
          <a:xfrm>
            <a:off x="640080" y="2788920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D99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Konstytucyjny protokół i silnik referencyjny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640080" y="3383280"/>
            <a:ext cx="6583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i="1" dirty="0">
                <a:solidFill>
                  <a:srgbClr val="9A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„Human OS nie decyduje, czym ma stać się życie człowieka.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i="1" dirty="0">
                <a:solidFill>
                  <a:srgbClr val="9A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Pomaga człowiekowi pozostać autorem tego życia.”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40080" y="4434840"/>
            <a:ext cx="914400" cy="256032"/>
          </a:xfrm>
          <a:prstGeom prst="roundRect">
            <a:avLst>
              <a:gd name="adj" fmla="val 21429"/>
            </a:avLst>
          </a:prstGeom>
          <a:solidFill>
            <a:srgbClr val="D99A2B"/>
          </a:solidFill>
          <a:ln w="12700">
            <a:solidFill>
              <a:srgbClr val="D99A2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443484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5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v0.9.0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645920" y="4434840"/>
            <a:ext cx="822960" cy="256032"/>
          </a:xfrm>
          <a:prstGeom prst="roundRect">
            <a:avLst>
              <a:gd name="adj" fmla="val 21429"/>
            </a:avLst>
          </a:prstGeom>
          <a:solidFill>
            <a:srgbClr val="1B2450"/>
          </a:solidFill>
          <a:ln w="12700">
            <a:solidFill>
              <a:srgbClr val="1B245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645920" y="443484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BETA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606040" y="4434840"/>
            <a:ext cx="2286000" cy="256032"/>
          </a:xfrm>
          <a:prstGeom prst="roundRect">
            <a:avLst>
              <a:gd name="adj" fmla="val 21429"/>
            </a:avLst>
          </a:prstGeom>
          <a:solidFill>
            <a:srgbClr val="1B2450"/>
          </a:solidFill>
          <a:ln w="12700">
            <a:solidFill>
              <a:srgbClr val="1B245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606040" y="443484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Apache-2.0 / CC BY 4.0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40080" y="5852160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Protocol, Identity and Security  ·  wydanie 0.9.0  ·  sierpień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087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15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Czym jest — i czym nigdy nie będzie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133856"/>
            <a:ext cx="109087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Obietnica systemu i jego jawne granice (Konstytucja, rozdz. 1)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1627632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F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JEST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355080" y="1627632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9E2B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 JEST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2011680"/>
            <a:ext cx="5120640" cy="1115568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FE3EE"/>
            </a:solidFill>
            <a:prstDash val="solid"/>
          </a:ln>
          <a:effectLst>
            <a:outerShdw sx="100000" sy="100000" kx="0" ky="0" algn="bl" rotWithShape="0" blurRad="101600" dist="12700" dir="5400000">
              <a:srgbClr val="9AA0B8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96112" y="2267712"/>
            <a:ext cx="274320" cy="274320"/>
          </a:xfrm>
          <a:prstGeom prst="ellipse">
            <a:avLst/>
          </a:prstGeom>
          <a:solidFill>
            <a:srgbClr val="2F7D8E"/>
          </a:solidFill>
          <a:ln w="12700">
            <a:solidFill>
              <a:srgbClr val="2F7D8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96112" y="226771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298448" y="2194560"/>
            <a:ext cx="4297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Protokół konstytucyjny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298448" y="2542032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Zestaw wiążących zasad, które system musi spełnić, zanim cokolwiek wykona.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" y="3310128"/>
            <a:ext cx="5120640" cy="1115568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FE3EE"/>
            </a:solidFill>
            <a:prstDash val="solid"/>
          </a:ln>
          <a:effectLst>
            <a:outerShdw sx="100000" sy="100000" kx="0" ky="0" algn="bl" rotWithShape="0" blurRad="101600" dist="12700" dir="5400000">
              <a:srgbClr val="9AA0B8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896112" y="3566160"/>
            <a:ext cx="274320" cy="274320"/>
          </a:xfrm>
          <a:prstGeom prst="ellipse">
            <a:avLst/>
          </a:prstGeom>
          <a:solidFill>
            <a:srgbClr val="2F7D8E"/>
          </a:solidFill>
          <a:ln w="12700">
            <a:solidFill>
              <a:srgbClr val="2F7D8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96112" y="35661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298448" y="3493008"/>
            <a:ext cx="4297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Silnik referencyjny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298448" y="384048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Wykonywalna implementacja tych zasad — testowalna, audytowalna, otwarta.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" y="4608576"/>
            <a:ext cx="5120640" cy="1115568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FE3EE"/>
            </a:solidFill>
            <a:prstDash val="solid"/>
          </a:ln>
          <a:effectLst>
            <a:outerShdw sx="100000" sy="100000" kx="0" ky="0" algn="bl" rotWithShape="0" blurRad="101600" dist="12700" dir="5400000">
              <a:srgbClr val="9AA0B8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96112" y="4864608"/>
            <a:ext cx="274320" cy="274320"/>
          </a:xfrm>
          <a:prstGeom prst="ellipse">
            <a:avLst/>
          </a:prstGeom>
          <a:solidFill>
            <a:srgbClr val="2F7D8E"/>
          </a:solidFill>
          <a:ln w="12700">
            <a:solidFill>
              <a:srgbClr val="2F7D8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96112" y="48646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298448" y="4791456"/>
            <a:ext cx="4297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Warstwa suwerenności danych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298448" y="5138928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Pełny eksport, historia zmian, prawo wyjścia bez utraty dorobku.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355080" y="2011680"/>
            <a:ext cx="5193792" cy="1115568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FE3EE"/>
            </a:solidFill>
            <a:prstDash val="solid"/>
          </a:ln>
          <a:effectLst>
            <a:outerShdw sx="100000" sy="100000" kx="0" ky="0" algn="bl" rotWithShape="0" blurRad="101600" dist="12700" dir="5400000">
              <a:srgbClr val="9AA0B8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611112" y="2267712"/>
            <a:ext cx="274320" cy="274320"/>
          </a:xfrm>
          <a:prstGeom prst="ellipse">
            <a:avLst/>
          </a:prstGeom>
          <a:solidFill>
            <a:srgbClr val="9E2B32"/>
          </a:solidFill>
          <a:ln w="12700">
            <a:solidFill>
              <a:srgbClr val="9E2B3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611112" y="226771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013448" y="2194560"/>
            <a:ext cx="4297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Wyrocznia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7013448" y="2542032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 rozstrzyga, co jest słuszne w czyimś życiu.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355080" y="3310128"/>
            <a:ext cx="5193792" cy="1115568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FE3EE"/>
            </a:solidFill>
            <a:prstDash val="solid"/>
          </a:ln>
          <a:effectLst>
            <a:outerShdw sx="100000" sy="100000" kx="0" ky="0" algn="bl" rotWithShape="0" blurRad="101600" dist="12700" dir="5400000">
              <a:srgbClr val="9AA0B8">
                <a:alpha val="1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611112" y="3566160"/>
            <a:ext cx="274320" cy="274320"/>
          </a:xfrm>
          <a:prstGeom prst="ellipse">
            <a:avLst/>
          </a:prstGeom>
          <a:solidFill>
            <a:srgbClr val="9E2B32"/>
          </a:solidFill>
          <a:ln w="12700">
            <a:solidFill>
              <a:srgbClr val="9E2B3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611112" y="35661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7013448" y="3493008"/>
            <a:ext cx="4297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Lekarz, terapeuta, doktryna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7013448" y="3840480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 zastępuje profesjonalnej opieki ani systemu wartości.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355080" y="4608576"/>
            <a:ext cx="5193792" cy="1115568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FE3EE"/>
            </a:solidFill>
            <a:prstDash val="solid"/>
          </a:ln>
          <a:effectLst>
            <a:outerShdw sx="100000" sy="100000" kx="0" ky="0" algn="bl" rotWithShape="0" blurRad="101600" dist="12700" dir="5400000">
              <a:srgbClr val="9AA0B8">
                <a:alpha val="1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611112" y="4864608"/>
            <a:ext cx="274320" cy="274320"/>
          </a:xfrm>
          <a:prstGeom prst="ellipse">
            <a:avLst/>
          </a:prstGeom>
          <a:solidFill>
            <a:srgbClr val="9E2B32"/>
          </a:solidFill>
          <a:ln w="12700">
            <a:solidFill>
              <a:srgbClr val="9E2B3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611112" y="48646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7013448" y="4791456"/>
            <a:ext cx="4297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Platforma uzależniająca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7013448" y="5138928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 optymalizuje czasu w aplikacji i nie rankinguje ludzi.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640080" y="6291072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A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Źródło: constitution/README.md — „Obietnica systemu” i „Czym system nie jest”.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5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087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Odwrotne kryterium sukcesu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133856"/>
            <a:ext cx="109087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 wzrost zaangażowania, lecz spadek własnej niezbędności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1143000" cy="256032"/>
          </a:xfrm>
          <a:prstGeom prst="roundRect">
            <a:avLst>
              <a:gd name="adj" fmla="val 21429"/>
            </a:avLst>
          </a:prstGeom>
          <a:solidFill>
            <a:srgbClr val="D99A2B"/>
          </a:solidFill>
          <a:ln w="12700">
            <a:solidFill>
              <a:srgbClr val="D99A2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874520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5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GEN-012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965960" y="1847088"/>
            <a:ext cx="5669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A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Malejąca niezbędność systemu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2331720"/>
            <a:ext cx="70408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Human OS wygrywa wtedy,</a:t>
            </a:r>
            <a:endParaRPr lang="en-US" sz="3000" dirty="0"/>
          </a:p>
          <a:p>
            <a:pPr indent="0" marL="0">
              <a:lnSpc>
                <a:spcPts val="4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gdy jest coraz mniej potrzebny.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640080" y="4069080"/>
            <a:ext cx="6858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9A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Sukces mierzy się spadkiem zależności od rozwiązań, które obniżają autonomię, uwagę, energię, sprawczość twórczą, odpowiedzialność, jakość relacji lub zgodność z własnymi wartościami użytkownika.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001000" y="1783080"/>
            <a:ext cx="3547872" cy="1207008"/>
          </a:xfrm>
          <a:prstGeom prst="roundRect">
            <a:avLst>
              <a:gd name="adj" fmla="val 3030"/>
            </a:avLst>
          </a:prstGeom>
          <a:solidFill>
            <a:srgbClr val="1B2450"/>
          </a:solidFill>
          <a:ln w="12700">
            <a:solidFill>
              <a:srgbClr val="2B356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11312" y="1947672"/>
            <a:ext cx="548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D99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8823960" y="2002536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Autonomia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823960" y="233172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A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sprawczość i autorstwo decyzji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001000" y="3200400"/>
            <a:ext cx="3547872" cy="1207008"/>
          </a:xfrm>
          <a:prstGeom prst="roundRect">
            <a:avLst>
              <a:gd name="adj" fmla="val 3030"/>
            </a:avLst>
          </a:prstGeom>
          <a:solidFill>
            <a:srgbClr val="1B2450"/>
          </a:solidFill>
          <a:ln w="12700">
            <a:solidFill>
              <a:srgbClr val="2B356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11312" y="3364992"/>
            <a:ext cx="548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D99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8823960" y="3419856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Zależność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823960" y="374904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A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 systemu i od mechanik uwagi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001000" y="4617720"/>
            <a:ext cx="3547872" cy="1207008"/>
          </a:xfrm>
          <a:prstGeom prst="roundRect">
            <a:avLst>
              <a:gd name="adj" fmla="val 3030"/>
            </a:avLst>
          </a:prstGeom>
          <a:solidFill>
            <a:srgbClr val="1B2450"/>
          </a:solidFill>
          <a:ln w="12700">
            <a:solidFill>
              <a:srgbClr val="2B356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11312" y="4782312"/>
            <a:ext cx="548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D99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8823960" y="4837176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Wyjście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8823960" y="516636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A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pełny eksport, zawsze dostępny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087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15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Pięć warstw, jeden kierunek zależności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133856"/>
            <a:ext cx="109087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Żadna niższa warstwa nie może po cichu redefiniować zasady warstwy wyższej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6949440" cy="713232"/>
          </a:xfrm>
          <a:prstGeom prst="roundRect">
            <a:avLst>
              <a:gd name="adj" fmla="val 6410"/>
            </a:avLst>
          </a:prstGeom>
          <a:solidFill>
            <a:srgbClr val="D99A2B"/>
          </a:solidFill>
          <a:ln w="12700">
            <a:solidFill>
              <a:srgbClr val="D99A2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32688" y="1746504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Constitution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32688" y="207568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5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constitution/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337560" y="1691640"/>
            <a:ext cx="4114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rozdziałów, 4 załączniki, 15 genów konstytucyjnych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 rot="10800000">
            <a:off x="3931920" y="2423160"/>
            <a:ext cx="310896" cy="146304"/>
          </a:xfrm>
          <a:prstGeom prst="triangle">
            <a:avLst/>
          </a:prstGeom>
          <a:solidFill>
            <a:srgbClr val="C9CEE0"/>
          </a:solidFill>
          <a:ln w="12700">
            <a:solidFill>
              <a:srgbClr val="C9CEE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2587752"/>
            <a:ext cx="6949440" cy="713232"/>
          </a:xfrm>
          <a:prstGeom prst="roundRect">
            <a:avLst>
              <a:gd name="adj" fmla="val 6410"/>
            </a:avLst>
          </a:prstGeom>
          <a:solidFill>
            <a:srgbClr val="2F7D8E"/>
          </a:solidFill>
          <a:ln w="12700">
            <a:solidFill>
              <a:srgbClr val="2F7D8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32688" y="2642616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HOSS / HOSP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932688" y="29718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spec/, protocol/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3337560" y="2587752"/>
            <a:ext cx="4114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przenośne kontrakty i podpisane koperty komunikatów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 rot="10800000">
            <a:off x="3931920" y="3319272"/>
            <a:ext cx="310896" cy="146304"/>
          </a:xfrm>
          <a:prstGeom prst="triangle">
            <a:avLst/>
          </a:prstGeom>
          <a:solidFill>
            <a:srgbClr val="C9CEE0"/>
          </a:solidFill>
          <a:ln w="12700">
            <a:solidFill>
              <a:srgbClr val="C9CEE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" y="3483864"/>
            <a:ext cx="6949440" cy="713232"/>
          </a:xfrm>
          <a:prstGeom prst="roundRect">
            <a:avLst>
              <a:gd name="adj" fmla="val 6410"/>
            </a:avLst>
          </a:prstGeom>
          <a:solidFill>
            <a:srgbClr val="0F1533"/>
          </a:solidFill>
          <a:ln w="12700">
            <a:solidFill>
              <a:srgbClr val="0F15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32688" y="353872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932688" y="386791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hos_engine/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3337560" y="3483864"/>
            <a:ext cx="4114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wykonywalna implementacja referencyjna w Pythonie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 rot="10800000">
            <a:off x="3931920" y="4215384"/>
            <a:ext cx="310896" cy="146304"/>
          </a:xfrm>
          <a:prstGeom prst="triangle">
            <a:avLst/>
          </a:prstGeom>
          <a:solidFill>
            <a:srgbClr val="C9CEE0"/>
          </a:solidFill>
          <a:ln w="12700">
            <a:solidFill>
              <a:srgbClr val="C9CEE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0080" y="4379976"/>
            <a:ext cx="6949440" cy="713232"/>
          </a:xfrm>
          <a:prstGeom prst="roundRect">
            <a:avLst>
              <a:gd name="adj" fmla="val 6410"/>
            </a:avLst>
          </a:prstGeom>
          <a:solidFill>
            <a:srgbClr val="1B2450"/>
          </a:solidFill>
          <a:ln w="12700">
            <a:solidFill>
              <a:srgbClr val="1B245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32688" y="4434840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SDK / Hub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932688" y="476402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sdk/, hub/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3337560" y="4379976"/>
            <a:ext cx="4114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routing, weryfikacja zgody, poświadczenia, odkrywanie usług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 rot="10800000">
            <a:off x="3931920" y="5111496"/>
            <a:ext cx="310896" cy="146304"/>
          </a:xfrm>
          <a:prstGeom prst="triangle">
            <a:avLst/>
          </a:prstGeom>
          <a:solidFill>
            <a:srgbClr val="C9CEE0"/>
          </a:solidFill>
          <a:ln w="12700">
            <a:solidFill>
              <a:srgbClr val="C9CEE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40080" y="5276088"/>
            <a:ext cx="6949440" cy="713232"/>
          </a:xfrm>
          <a:prstGeom prst="roundRect">
            <a:avLst>
              <a:gd name="adj" fmla="val 6410"/>
            </a:avLst>
          </a:prstGeom>
          <a:solidFill>
            <a:srgbClr val="5B6280"/>
          </a:solidFill>
          <a:ln w="12700">
            <a:solidFill>
              <a:srgbClr val="5B628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32688" y="5330952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932688" y="566013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app/, apps/user-demo/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3337560" y="5276088"/>
            <a:ext cx="4114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cienkie klienty — bez własnej logiki polityk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8001000" y="1691640"/>
            <a:ext cx="3547872" cy="2148840"/>
          </a:xfrm>
          <a:prstGeom prst="roundRect">
            <a:avLst>
              <a:gd name="adj" fmla="val 1702"/>
            </a:avLst>
          </a:prstGeom>
          <a:solidFill>
            <a:srgbClr val="FFFFFF"/>
          </a:solidFill>
          <a:ln w="12700">
            <a:solidFill>
              <a:srgbClr val="DFE3EE"/>
            </a:solidFill>
            <a:prstDash val="solid"/>
          </a:ln>
          <a:effectLst>
            <a:outerShdw sx="100000" sy="100000" kx="0" ky="0" algn="bl" rotWithShape="0" blurRad="101600" dist="12700" dir="5400000">
              <a:srgbClr val="9AA0B8">
                <a:alpha val="18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8275320" y="1874520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Zasada nadrzędności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8275320" y="2240280"/>
            <a:ext cx="3017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Każde wydanie deklaruje zgodne wersje, wpływ migracji, wpływ na bezpieczeństwo i znane ograniczenia. Reguł nie da się obejść „w dół” stosu.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8001000" y="4023360"/>
            <a:ext cx="3547872" cy="2057400"/>
          </a:xfrm>
          <a:prstGeom prst="roundRect">
            <a:avLst>
              <a:gd name="adj" fmla="val 1778"/>
            </a:avLst>
          </a:prstGeom>
          <a:solidFill>
            <a:srgbClr val="FFFFFF"/>
          </a:solidFill>
          <a:ln w="12700">
            <a:solidFill>
              <a:srgbClr val="DFE3EE"/>
            </a:solidFill>
            <a:prstDash val="solid"/>
          </a:ln>
          <a:effectLst>
            <a:outerShdw sx="100000" sy="100000" kx="0" ky="0" algn="bl" rotWithShape="0" blurRad="101600" dist="12700" dir="5400000">
              <a:srgbClr val="9AA0B8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8275320" y="4206240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Gdzie żyje polityka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8275320" y="4572000"/>
            <a:ext cx="30175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Cała logika konstytucyjna należy do silnika. Aplikacja demonstracyjna i konsola Proof Kernel są klientami — nie mają własnych reguł.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087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15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Genom konstytucyjny: 15 genów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133856"/>
            <a:ext cx="109087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Każda materialna zmiana deklaruje, które geny wspiera i które stawia pod ryzykiem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2176272" cy="1115568"/>
          </a:xfrm>
          <a:prstGeom prst="roundRect">
            <a:avLst>
              <a:gd name="adj" fmla="val 4098"/>
            </a:avLst>
          </a:prstGeom>
          <a:solidFill>
            <a:srgbClr val="F2F4FA"/>
          </a:solidFill>
          <a:ln w="12700">
            <a:solidFill>
              <a:srgbClr val="DFE3E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41248" y="1993392"/>
            <a:ext cx="1810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F7D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GEN-001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841248" y="2286000"/>
            <a:ext cx="18105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Prymat człowieka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944368" y="1828800"/>
            <a:ext cx="2176272" cy="1115568"/>
          </a:xfrm>
          <a:prstGeom prst="roundRect">
            <a:avLst>
              <a:gd name="adj" fmla="val 4098"/>
            </a:avLst>
          </a:prstGeom>
          <a:solidFill>
            <a:srgbClr val="F2F4FA"/>
          </a:solidFill>
          <a:ln w="12700">
            <a:solidFill>
              <a:srgbClr val="DFE3E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145536" y="1993392"/>
            <a:ext cx="1810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F7D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GEN-002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145536" y="2286000"/>
            <a:ext cx="18105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Autorstwo życia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248656" y="1828800"/>
            <a:ext cx="2176272" cy="1115568"/>
          </a:xfrm>
          <a:prstGeom prst="roundRect">
            <a:avLst>
              <a:gd name="adj" fmla="val 4098"/>
            </a:avLst>
          </a:prstGeom>
          <a:solidFill>
            <a:srgbClr val="F2F4FA"/>
          </a:solidFill>
          <a:ln w="12700">
            <a:solidFill>
              <a:srgbClr val="DFE3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49824" y="1993392"/>
            <a:ext cx="1810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F7D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GEN-003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449824" y="2286000"/>
            <a:ext cx="18105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Autonomia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552944" y="1828800"/>
            <a:ext cx="2176272" cy="1115568"/>
          </a:xfrm>
          <a:prstGeom prst="roundRect">
            <a:avLst>
              <a:gd name="adj" fmla="val 4098"/>
            </a:avLst>
          </a:prstGeom>
          <a:solidFill>
            <a:srgbClr val="F2F4FA"/>
          </a:solidFill>
          <a:ln w="12700">
            <a:solidFill>
              <a:srgbClr val="DFE3E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54112" y="1993392"/>
            <a:ext cx="1810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F7D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GEN-004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7754112" y="2286000"/>
            <a:ext cx="18105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Świadomy wybór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9857232" y="1828800"/>
            <a:ext cx="2176272" cy="1115568"/>
          </a:xfrm>
          <a:prstGeom prst="roundRect">
            <a:avLst>
              <a:gd name="adj" fmla="val 4098"/>
            </a:avLst>
          </a:prstGeom>
          <a:solidFill>
            <a:srgbClr val="F2F4FA"/>
          </a:solidFill>
          <a:ln w="12700">
            <a:solidFill>
              <a:srgbClr val="DFE3E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058400" y="1993392"/>
            <a:ext cx="1810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F7D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GEN-005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10058400" y="2286000"/>
            <a:ext cx="18105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Odpowiedzialność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40080" y="3127248"/>
            <a:ext cx="2176272" cy="1115568"/>
          </a:xfrm>
          <a:prstGeom prst="roundRect">
            <a:avLst>
              <a:gd name="adj" fmla="val 4098"/>
            </a:avLst>
          </a:prstGeom>
          <a:solidFill>
            <a:srgbClr val="F2F4FA"/>
          </a:solidFill>
          <a:ln w="12700">
            <a:solidFill>
              <a:srgbClr val="DFE3E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41248" y="3291840"/>
            <a:ext cx="1810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F7D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GEN-006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841248" y="3584448"/>
            <a:ext cx="18105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Twórcza sprawczość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2944368" y="3127248"/>
            <a:ext cx="2176272" cy="1115568"/>
          </a:xfrm>
          <a:prstGeom prst="roundRect">
            <a:avLst>
              <a:gd name="adj" fmla="val 4098"/>
            </a:avLst>
          </a:prstGeom>
          <a:solidFill>
            <a:srgbClr val="F2F4FA"/>
          </a:solidFill>
          <a:ln w="12700">
            <a:solidFill>
              <a:srgbClr val="DFE3E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145536" y="3291840"/>
            <a:ext cx="1810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F7D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GEN-007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3145536" y="3584448"/>
            <a:ext cx="18105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Generatywny przepływ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5248656" y="3127248"/>
            <a:ext cx="2176272" cy="1115568"/>
          </a:xfrm>
          <a:prstGeom prst="roundRect">
            <a:avLst>
              <a:gd name="adj" fmla="val 4098"/>
            </a:avLst>
          </a:prstGeom>
          <a:solidFill>
            <a:srgbClr val="F2F4FA"/>
          </a:solidFill>
          <a:ln w="12700">
            <a:solidFill>
              <a:srgbClr val="DFE3E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49824" y="3291840"/>
            <a:ext cx="1810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F7D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GEN-008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5449824" y="3584448"/>
            <a:ext cx="18105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Symbioza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7552944" y="3127248"/>
            <a:ext cx="2176272" cy="1115568"/>
          </a:xfrm>
          <a:prstGeom prst="roundRect">
            <a:avLst>
              <a:gd name="adj" fmla="val 4098"/>
            </a:avLst>
          </a:prstGeom>
          <a:solidFill>
            <a:srgbClr val="F2F4FA"/>
          </a:solidFill>
          <a:ln w="12700">
            <a:solidFill>
              <a:srgbClr val="DFE3E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754112" y="3291840"/>
            <a:ext cx="1810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F7D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GEN-009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7754112" y="3584448"/>
            <a:ext cx="18105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Dobrowolność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9857232" y="3127248"/>
            <a:ext cx="2176272" cy="1115568"/>
          </a:xfrm>
          <a:prstGeom prst="roundRect">
            <a:avLst>
              <a:gd name="adj" fmla="val 4098"/>
            </a:avLst>
          </a:prstGeom>
          <a:solidFill>
            <a:srgbClr val="F2F4FA"/>
          </a:solidFill>
          <a:ln w="12700">
            <a:solidFill>
              <a:srgbClr val="DFE3E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0058400" y="3291840"/>
            <a:ext cx="1810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F7D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GEN-010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10058400" y="3584448"/>
            <a:ext cx="18105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Prywatność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640080" y="4425696"/>
            <a:ext cx="2176272" cy="1115568"/>
          </a:xfrm>
          <a:prstGeom prst="roundRect">
            <a:avLst>
              <a:gd name="adj" fmla="val 4098"/>
            </a:avLst>
          </a:prstGeom>
          <a:solidFill>
            <a:srgbClr val="F2F4FA"/>
          </a:solidFill>
          <a:ln w="12700">
            <a:solidFill>
              <a:srgbClr val="DFE3E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41248" y="4590288"/>
            <a:ext cx="1810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F7D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GEN-011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841248" y="4882896"/>
            <a:ext cx="18105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Niezawłaszczanie wartości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2944368" y="4425696"/>
            <a:ext cx="2176272" cy="1115568"/>
          </a:xfrm>
          <a:prstGeom prst="roundRect">
            <a:avLst>
              <a:gd name="adj" fmla="val 4098"/>
            </a:avLst>
          </a:prstGeom>
          <a:solidFill>
            <a:srgbClr val="0F1533"/>
          </a:solidFill>
          <a:ln w="12700">
            <a:solidFill>
              <a:srgbClr val="0F1533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145536" y="4590288"/>
            <a:ext cx="1810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99A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GEN-012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3145536" y="4882896"/>
            <a:ext cx="18105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Malejąca niezbędność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5248656" y="4425696"/>
            <a:ext cx="2176272" cy="1115568"/>
          </a:xfrm>
          <a:prstGeom prst="roundRect">
            <a:avLst>
              <a:gd name="adj" fmla="val 4098"/>
            </a:avLst>
          </a:prstGeom>
          <a:solidFill>
            <a:srgbClr val="F2F4FA"/>
          </a:solidFill>
          <a:ln w="12700">
            <a:solidFill>
              <a:srgbClr val="DFE3EE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449824" y="4590288"/>
            <a:ext cx="1810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F7D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GEN-013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5449824" y="4882896"/>
            <a:ext cx="18105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Różnorodność dróg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7552944" y="4425696"/>
            <a:ext cx="2176272" cy="1115568"/>
          </a:xfrm>
          <a:prstGeom prst="roundRect">
            <a:avLst>
              <a:gd name="adj" fmla="val 4098"/>
            </a:avLst>
          </a:prstGeom>
          <a:solidFill>
            <a:srgbClr val="F2F4FA"/>
          </a:solidFill>
          <a:ln w="12700">
            <a:solidFill>
              <a:srgbClr val="DFE3EE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754112" y="4590288"/>
            <a:ext cx="1810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F7D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GEN-014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7754112" y="4882896"/>
            <a:ext cx="18105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Odwracalność</a:t>
            </a:r>
            <a:endParaRPr lang="en-US" sz="1300" dirty="0"/>
          </a:p>
        </p:txBody>
      </p:sp>
      <p:sp>
        <p:nvSpPr>
          <p:cNvPr id="46" name="Shape 44"/>
          <p:cNvSpPr/>
          <p:nvPr/>
        </p:nvSpPr>
        <p:spPr>
          <a:xfrm>
            <a:off x="9857232" y="4425696"/>
            <a:ext cx="2176272" cy="1115568"/>
          </a:xfrm>
          <a:prstGeom prst="roundRect">
            <a:avLst>
              <a:gd name="adj" fmla="val 4098"/>
            </a:avLst>
          </a:prstGeom>
          <a:solidFill>
            <a:srgbClr val="F2F4FA"/>
          </a:solidFill>
          <a:ln w="12700">
            <a:solidFill>
              <a:srgbClr val="DFE3EE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0058400" y="4590288"/>
            <a:ext cx="1810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F7D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GEN-015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10058400" y="4882896"/>
            <a:ext cx="18105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Transparentność wpływu</a:t>
            </a:r>
            <a:endParaRPr lang="en-US" sz="1300" dirty="0"/>
          </a:p>
        </p:txBody>
      </p:sp>
      <p:sp>
        <p:nvSpPr>
          <p:cNvPr id="49" name="Text 47"/>
          <p:cNvSpPr/>
          <p:nvPr/>
        </p:nvSpPr>
        <p:spPr>
          <a:xfrm>
            <a:off x="640080" y="6291072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A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genome.registry.json v0.2.0 — geny deklaruje się w każdym pull requeście (CONTRIBUTING.md).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087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15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Proof Kernel: 9 testów, 6 werdyktów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133856"/>
            <a:ext cx="109087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evaluate_action() — każde działanie przechodzi test konstytucyjny przed wykonaniem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989320" cy="3977640"/>
          </a:xfrm>
          <a:prstGeom prst="roundRect">
            <a:avLst>
              <a:gd name="adj" fmla="val 920"/>
            </a:avLst>
          </a:prstGeom>
          <a:solidFill>
            <a:srgbClr val="FFFFFF"/>
          </a:solidFill>
          <a:ln w="12700">
            <a:solidFill>
              <a:srgbClr val="DFE3EE"/>
            </a:solidFill>
            <a:prstDash val="solid"/>
          </a:ln>
          <a:effectLst>
            <a:outerShdw sx="100000" sy="100000" kx="0" ky="0" algn="bl" rotWithShape="0" blurRad="101600" dist="12700" dir="5400000">
              <a:srgbClr val="9AA0B8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1847088"/>
            <a:ext cx="5394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Testy konstytucyjne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914400" y="2286000"/>
            <a:ext cx="1051560" cy="256032"/>
          </a:xfrm>
          <a:prstGeom prst="roundRect">
            <a:avLst>
              <a:gd name="adj" fmla="val 21429"/>
            </a:avLst>
          </a:prstGeom>
          <a:solidFill>
            <a:srgbClr val="2F7D8E"/>
          </a:solidFill>
          <a:ln w="12700">
            <a:solidFill>
              <a:srgbClr val="2F7D8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2286000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PROOF-001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057400" y="2286000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Autorstwo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767328" y="2286000"/>
            <a:ext cx="1051560" cy="256032"/>
          </a:xfrm>
          <a:prstGeom prst="roundRect">
            <a:avLst>
              <a:gd name="adj" fmla="val 21429"/>
            </a:avLst>
          </a:prstGeom>
          <a:solidFill>
            <a:srgbClr val="2F7D8E"/>
          </a:solidFill>
          <a:ln w="12700">
            <a:solidFill>
              <a:srgbClr val="2F7D8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767328" y="2286000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PROOF-002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910328" y="2286000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Autonomia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914400" y="2962656"/>
            <a:ext cx="1051560" cy="256032"/>
          </a:xfrm>
          <a:prstGeom prst="roundRect">
            <a:avLst>
              <a:gd name="adj" fmla="val 21429"/>
            </a:avLst>
          </a:prstGeom>
          <a:solidFill>
            <a:srgbClr val="2F7D8E"/>
          </a:solidFill>
          <a:ln w="12700">
            <a:solidFill>
              <a:srgbClr val="2F7D8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2962656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PROOF-003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057400" y="2962656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Generatywność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767328" y="2962656"/>
            <a:ext cx="1051560" cy="256032"/>
          </a:xfrm>
          <a:prstGeom prst="roundRect">
            <a:avLst>
              <a:gd name="adj" fmla="val 21429"/>
            </a:avLst>
          </a:prstGeom>
          <a:solidFill>
            <a:srgbClr val="2F7D8E"/>
          </a:solidFill>
          <a:ln w="12700">
            <a:solidFill>
              <a:srgbClr val="2F7D8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767328" y="2962656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PROOF-004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910328" y="2962656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Ekstrakcja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914400" y="3639312"/>
            <a:ext cx="1051560" cy="256032"/>
          </a:xfrm>
          <a:prstGeom prst="roundRect">
            <a:avLst>
              <a:gd name="adj" fmla="val 21429"/>
            </a:avLst>
          </a:prstGeom>
          <a:solidFill>
            <a:srgbClr val="2F7D8E"/>
          </a:solidFill>
          <a:ln w="12700">
            <a:solidFill>
              <a:srgbClr val="2F7D8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4400" y="363931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PROOF-005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057400" y="3639312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Zgoda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767328" y="3639312"/>
            <a:ext cx="1051560" cy="256032"/>
          </a:xfrm>
          <a:prstGeom prst="roundRect">
            <a:avLst>
              <a:gd name="adj" fmla="val 21429"/>
            </a:avLst>
          </a:prstGeom>
          <a:solidFill>
            <a:srgbClr val="2F7D8E"/>
          </a:solidFill>
          <a:ln w="12700">
            <a:solidFill>
              <a:srgbClr val="2F7D8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767328" y="363931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PROOF-006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910328" y="3639312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Odwracalność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914400" y="4315968"/>
            <a:ext cx="1051560" cy="256032"/>
          </a:xfrm>
          <a:prstGeom prst="roundRect">
            <a:avLst>
              <a:gd name="adj" fmla="val 21429"/>
            </a:avLst>
          </a:prstGeom>
          <a:solidFill>
            <a:srgbClr val="2F7D8E"/>
          </a:solidFill>
          <a:ln w="12700">
            <a:solidFill>
              <a:srgbClr val="2F7D8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14400" y="4315968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PROOF-007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2057400" y="4315968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Zależność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767328" y="4315968"/>
            <a:ext cx="1051560" cy="256032"/>
          </a:xfrm>
          <a:prstGeom prst="roundRect">
            <a:avLst>
              <a:gd name="adj" fmla="val 21429"/>
            </a:avLst>
          </a:prstGeom>
          <a:solidFill>
            <a:srgbClr val="2F7D8E"/>
          </a:solidFill>
          <a:ln w="12700">
            <a:solidFill>
              <a:srgbClr val="2F7D8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767328" y="4315968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PROOF-008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910328" y="4315968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Przenośność i wyjście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914400" y="4992624"/>
            <a:ext cx="1051560" cy="256032"/>
          </a:xfrm>
          <a:prstGeom prst="roundRect">
            <a:avLst>
              <a:gd name="adj" fmla="val 21429"/>
            </a:avLst>
          </a:prstGeom>
          <a:solidFill>
            <a:srgbClr val="2F7D8E"/>
          </a:solidFill>
          <a:ln w="12700">
            <a:solidFill>
              <a:srgbClr val="2F7D8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14400" y="4992624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PROOF-009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2057400" y="4992624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Transparentność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6903720" y="1691640"/>
            <a:ext cx="4645152" cy="3977640"/>
          </a:xfrm>
          <a:prstGeom prst="roundRect">
            <a:avLst>
              <a:gd name="adj" fmla="val 920"/>
            </a:avLst>
          </a:prstGeom>
          <a:solidFill>
            <a:srgbClr val="FFFFFF"/>
          </a:solidFill>
          <a:ln w="12700">
            <a:solidFill>
              <a:srgbClr val="DFE3EE"/>
            </a:solidFill>
            <a:prstDash val="solid"/>
          </a:ln>
          <a:effectLst>
            <a:outerShdw sx="100000" sy="100000" kx="0" ky="0" algn="bl" rotWithShape="0" blurRad="101600" dist="12700" dir="5400000">
              <a:srgbClr val="9AA0B8">
                <a:alpha val="18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7178040" y="1847088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Możliwe werdykty</a:t>
            </a:r>
            <a:endParaRPr lang="en-US" sz="1500" dirty="0"/>
          </a:p>
        </p:txBody>
      </p:sp>
      <p:sp>
        <p:nvSpPr>
          <p:cNvPr id="35" name="Shape 33"/>
          <p:cNvSpPr/>
          <p:nvPr/>
        </p:nvSpPr>
        <p:spPr>
          <a:xfrm>
            <a:off x="7178040" y="2286000"/>
            <a:ext cx="4096512" cy="457200"/>
          </a:xfrm>
          <a:prstGeom prst="roundRect">
            <a:avLst>
              <a:gd name="adj" fmla="val 10000"/>
            </a:avLst>
          </a:prstGeom>
          <a:solidFill>
            <a:srgbClr val="2F7D8E"/>
          </a:solidFill>
          <a:ln w="12700">
            <a:solidFill>
              <a:srgbClr val="2F7D8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360920" y="228600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APPROVED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7178040" y="2852928"/>
            <a:ext cx="4096512" cy="457200"/>
          </a:xfrm>
          <a:prstGeom prst="roundRect">
            <a:avLst>
              <a:gd name="adj" fmla="val 10000"/>
            </a:avLst>
          </a:prstGeom>
          <a:solidFill>
            <a:srgbClr val="4F9AA8"/>
          </a:solidFill>
          <a:ln w="12700">
            <a:solidFill>
              <a:srgbClr val="4F9AA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360920" y="2852928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APPROVED_WITH_LIMITS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7178040" y="3419856"/>
            <a:ext cx="4096512" cy="457200"/>
          </a:xfrm>
          <a:prstGeom prst="roundRect">
            <a:avLst>
              <a:gd name="adj" fmla="val 10000"/>
            </a:avLst>
          </a:prstGeom>
          <a:solidFill>
            <a:srgbClr val="D99A2B"/>
          </a:solidFill>
          <a:ln w="12700">
            <a:solidFill>
              <a:srgbClr val="D99A2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360920" y="3419856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REQUIRES_CONSENT</a:t>
            </a:r>
            <a:endParaRPr lang="en-US" sz="1150" dirty="0"/>
          </a:p>
        </p:txBody>
      </p:sp>
      <p:sp>
        <p:nvSpPr>
          <p:cNvPr id="41" name="Shape 39"/>
          <p:cNvSpPr/>
          <p:nvPr/>
        </p:nvSpPr>
        <p:spPr>
          <a:xfrm>
            <a:off x="7178040" y="3986784"/>
            <a:ext cx="4096512" cy="457200"/>
          </a:xfrm>
          <a:prstGeom prst="roundRect">
            <a:avLst>
              <a:gd name="adj" fmla="val 10000"/>
            </a:avLst>
          </a:prstGeom>
          <a:solidFill>
            <a:srgbClr val="C07A22"/>
          </a:solidFill>
          <a:ln w="12700">
            <a:solidFill>
              <a:srgbClr val="C07A22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360920" y="3986784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REQUIRES_HUMAN_DECISION</a:t>
            </a:r>
            <a:endParaRPr lang="en-US" sz="1150" dirty="0"/>
          </a:p>
        </p:txBody>
      </p:sp>
      <p:sp>
        <p:nvSpPr>
          <p:cNvPr id="43" name="Shape 41"/>
          <p:cNvSpPr/>
          <p:nvPr/>
        </p:nvSpPr>
        <p:spPr>
          <a:xfrm>
            <a:off x="7178040" y="4553712"/>
            <a:ext cx="4096512" cy="457200"/>
          </a:xfrm>
          <a:prstGeom prst="roundRect">
            <a:avLst>
              <a:gd name="adj" fmla="val 10000"/>
            </a:avLst>
          </a:prstGeom>
          <a:solidFill>
            <a:srgbClr val="8A5A9E"/>
          </a:solidFill>
          <a:ln w="12700">
            <a:solidFill>
              <a:srgbClr val="8A5A9E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360920" y="4553712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REQUIRES_REDESIGN</a:t>
            </a:r>
            <a:endParaRPr lang="en-US" sz="1150" dirty="0"/>
          </a:p>
        </p:txBody>
      </p:sp>
      <p:sp>
        <p:nvSpPr>
          <p:cNvPr id="45" name="Shape 43"/>
          <p:cNvSpPr/>
          <p:nvPr/>
        </p:nvSpPr>
        <p:spPr>
          <a:xfrm>
            <a:off x="7178040" y="5120640"/>
            <a:ext cx="4096512" cy="457200"/>
          </a:xfrm>
          <a:prstGeom prst="roundRect">
            <a:avLst>
              <a:gd name="adj" fmla="val 10000"/>
            </a:avLst>
          </a:prstGeom>
          <a:solidFill>
            <a:srgbClr val="9E2B32"/>
          </a:solidFill>
          <a:ln w="12700">
            <a:solidFill>
              <a:srgbClr val="9E2B32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360920" y="512064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CONSTITUTIONAL_VIOLATION</a:t>
            </a:r>
            <a:endParaRPr lang="en-US" sz="1150" dirty="0"/>
          </a:p>
        </p:txBody>
      </p:sp>
      <p:sp>
        <p:nvSpPr>
          <p:cNvPr id="47" name="Text 45"/>
          <p:cNvSpPr/>
          <p:nvPr/>
        </p:nvSpPr>
        <p:spPr>
          <a:xfrm>
            <a:off x="640080" y="6291072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A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„Twarda brama przed punktacją” — odmowa nie jest błędem wykonania, tylko poprawnym wynikiem.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087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15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Od intencji do poświadczenia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133856"/>
            <a:ext cx="109087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ExecutionLoop.execute(HumanIntent) → ExecutionResult (ADR-CORE-002)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2084832" cy="960120"/>
          </a:xfrm>
          <a:prstGeom prst="roundRect">
            <a:avLst>
              <a:gd name="adj" fmla="val 4762"/>
            </a:avLst>
          </a:prstGeom>
          <a:solidFill>
            <a:srgbClr val="F2F4FA"/>
          </a:solidFill>
          <a:ln w="12700">
            <a:solidFill>
              <a:srgbClr val="C9CEE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965960"/>
            <a:ext cx="329184" cy="329184"/>
          </a:xfrm>
          <a:prstGeom prst="ellipse">
            <a:avLst/>
          </a:prstGeom>
          <a:solidFill>
            <a:srgbClr val="0F1533"/>
          </a:solidFill>
          <a:ln w="12700">
            <a:solidFill>
              <a:srgbClr val="0F15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9659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04672" y="2350008"/>
            <a:ext cx="17556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TOŻSAMOŚĆ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926080" y="1783080"/>
            <a:ext cx="2084832" cy="960120"/>
          </a:xfrm>
          <a:prstGeom prst="roundRect">
            <a:avLst>
              <a:gd name="adj" fmla="val 4762"/>
            </a:avLst>
          </a:prstGeom>
          <a:solidFill>
            <a:srgbClr val="F2F4FA"/>
          </a:solidFill>
          <a:ln w="12700">
            <a:solidFill>
              <a:srgbClr val="C9CEE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108960" y="1965960"/>
            <a:ext cx="329184" cy="329184"/>
          </a:xfrm>
          <a:prstGeom prst="ellipse">
            <a:avLst/>
          </a:prstGeom>
          <a:solidFill>
            <a:srgbClr val="0F1533"/>
          </a:solidFill>
          <a:ln w="12700">
            <a:solidFill>
              <a:srgbClr val="0F15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108960" y="19659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090672" y="2350008"/>
            <a:ext cx="17556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ROLA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212080" y="1783080"/>
            <a:ext cx="2084832" cy="960120"/>
          </a:xfrm>
          <a:prstGeom prst="roundRect">
            <a:avLst>
              <a:gd name="adj" fmla="val 4762"/>
            </a:avLst>
          </a:prstGeom>
          <a:solidFill>
            <a:srgbClr val="F2F4FA"/>
          </a:solidFill>
          <a:ln w="12700">
            <a:solidFill>
              <a:srgbClr val="C9CEE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394960" y="1965960"/>
            <a:ext cx="329184" cy="329184"/>
          </a:xfrm>
          <a:prstGeom prst="ellipse">
            <a:avLst/>
          </a:prstGeom>
          <a:solidFill>
            <a:srgbClr val="0F1533"/>
          </a:solidFill>
          <a:ln w="12700">
            <a:solidFill>
              <a:srgbClr val="0F15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394960" y="19659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376672" y="2350008"/>
            <a:ext cx="17556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ZGODA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498080" y="1783080"/>
            <a:ext cx="2084832" cy="960120"/>
          </a:xfrm>
          <a:prstGeom prst="roundRect">
            <a:avLst>
              <a:gd name="adj" fmla="val 4762"/>
            </a:avLst>
          </a:prstGeom>
          <a:solidFill>
            <a:srgbClr val="F2F4FA"/>
          </a:solidFill>
          <a:ln w="12700">
            <a:solidFill>
              <a:srgbClr val="C9CEE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680960" y="1965960"/>
            <a:ext cx="329184" cy="329184"/>
          </a:xfrm>
          <a:prstGeom prst="ellipse">
            <a:avLst/>
          </a:prstGeom>
          <a:solidFill>
            <a:srgbClr val="0F1533"/>
          </a:solidFill>
          <a:ln w="12700">
            <a:solidFill>
              <a:srgbClr val="0F15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680960" y="19659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662672" y="2350008"/>
            <a:ext cx="17556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KONTEKST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9784080" y="1783080"/>
            <a:ext cx="2084832" cy="960120"/>
          </a:xfrm>
          <a:prstGeom prst="roundRect">
            <a:avLst>
              <a:gd name="adj" fmla="val 4762"/>
            </a:avLst>
          </a:prstGeom>
          <a:solidFill>
            <a:srgbClr val="F2F4FA"/>
          </a:solidFill>
          <a:ln w="12700">
            <a:solidFill>
              <a:srgbClr val="C9CEE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966960" y="1965960"/>
            <a:ext cx="329184" cy="329184"/>
          </a:xfrm>
          <a:prstGeom prst="ellipse">
            <a:avLst/>
          </a:prstGeom>
          <a:solidFill>
            <a:srgbClr val="0F1533"/>
          </a:solidFill>
          <a:ln w="12700">
            <a:solidFill>
              <a:srgbClr val="0F15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966960" y="19659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948672" y="2350008"/>
            <a:ext cx="17556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ENCJE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40080" y="3017520"/>
            <a:ext cx="2084832" cy="960120"/>
          </a:xfrm>
          <a:prstGeom prst="roundRect">
            <a:avLst>
              <a:gd name="adj" fmla="val 4762"/>
            </a:avLst>
          </a:prstGeom>
          <a:solidFill>
            <a:srgbClr val="F2F4FA"/>
          </a:solidFill>
          <a:ln w="12700">
            <a:solidFill>
              <a:srgbClr val="C9CEE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22960" y="3200400"/>
            <a:ext cx="329184" cy="329184"/>
          </a:xfrm>
          <a:prstGeom prst="ellipse">
            <a:avLst/>
          </a:prstGeom>
          <a:solidFill>
            <a:srgbClr val="0F1533"/>
          </a:solidFill>
          <a:ln w="12700">
            <a:solidFill>
              <a:srgbClr val="0F153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2960" y="32004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804672" y="3584448"/>
            <a:ext cx="17556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KONSTYTUCJA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2926080" y="3017520"/>
            <a:ext cx="2084832" cy="96012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DFE3EE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108960" y="3200400"/>
            <a:ext cx="329184" cy="329184"/>
          </a:xfrm>
          <a:prstGeom prst="ellipse">
            <a:avLst/>
          </a:prstGeom>
          <a:solidFill>
            <a:srgbClr val="2F7D8E"/>
          </a:solidFill>
          <a:ln w="12700">
            <a:solidFill>
              <a:srgbClr val="2F7D8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108960" y="32004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3090672" y="3584448"/>
            <a:ext cx="17556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5212080" y="3017520"/>
            <a:ext cx="2084832" cy="96012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DFE3EE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394960" y="3200400"/>
            <a:ext cx="329184" cy="329184"/>
          </a:xfrm>
          <a:prstGeom prst="ellipse">
            <a:avLst/>
          </a:prstGeom>
          <a:solidFill>
            <a:srgbClr val="2F7D8E"/>
          </a:solidFill>
          <a:ln w="12700">
            <a:solidFill>
              <a:srgbClr val="2F7D8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394960" y="32004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376672" y="3584448"/>
            <a:ext cx="17556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POŚWIADCZENIE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7498080" y="3017520"/>
            <a:ext cx="2084832" cy="96012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DFE3EE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680960" y="3200400"/>
            <a:ext cx="329184" cy="329184"/>
          </a:xfrm>
          <a:prstGeom prst="ellipse">
            <a:avLst/>
          </a:prstGeom>
          <a:solidFill>
            <a:srgbClr val="2F7D8E"/>
          </a:solidFill>
          <a:ln w="12700">
            <a:solidFill>
              <a:srgbClr val="2F7D8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680960" y="32004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7662672" y="3584448"/>
            <a:ext cx="17556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ZDARZENIE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9784080" y="3017520"/>
            <a:ext cx="2084832" cy="96012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DFE3EE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9966960" y="3200400"/>
            <a:ext cx="329184" cy="329184"/>
          </a:xfrm>
          <a:prstGeom prst="ellipse">
            <a:avLst/>
          </a:prstGeom>
          <a:solidFill>
            <a:srgbClr val="2F7D8E"/>
          </a:solidFill>
          <a:ln w="12700">
            <a:solidFill>
              <a:srgbClr val="2F7D8E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9966960" y="32004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9948672" y="3584448"/>
            <a:ext cx="17556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AUDYT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640080" y="4389120"/>
            <a:ext cx="10908792" cy="1371600"/>
          </a:xfrm>
          <a:prstGeom prst="roundRect">
            <a:avLst>
              <a:gd name="adj" fmla="val 3333"/>
            </a:avLst>
          </a:prstGeom>
          <a:solidFill>
            <a:srgbClr val="0F1533"/>
          </a:solidFill>
          <a:ln w="12700">
            <a:solidFill>
              <a:srgbClr val="0F1533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960120" y="4617720"/>
            <a:ext cx="1371600" cy="256032"/>
          </a:xfrm>
          <a:prstGeom prst="roundRect">
            <a:avLst>
              <a:gd name="adj" fmla="val 21429"/>
            </a:avLst>
          </a:prstGeom>
          <a:solidFill>
            <a:srgbClr val="D99A2B"/>
          </a:solidFill>
          <a:ln w="12700">
            <a:solidFill>
              <a:srgbClr val="D99A2B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960120" y="461772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5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REFUSED_*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2514600" y="4590288"/>
            <a:ext cx="8412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Odmowa jest wynikiem pierwszej klasy — nigdy wyjątkiem.</a:t>
            </a:r>
            <a:endParaRPr lang="en-US" sz="1500" dirty="0"/>
          </a:p>
        </p:txBody>
      </p:sp>
      <p:sp>
        <p:nvSpPr>
          <p:cNvPr id="48" name="Text 46"/>
          <p:cNvSpPr/>
          <p:nvPr/>
        </p:nvSpPr>
        <p:spPr>
          <a:xfrm>
            <a:off x="960120" y="498348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9A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Odrzucenie na dowolnej z sześciu pierwszych bram zatrzymuje pętlę, zanim cokolwiek zostanie wykonane lub zapisane. Kroki 7–10 nie są opcjonalne: każde wykonanie zostawia poświadczenie, zdarzenie na łańcuchu skrótów i ślad audytowy.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5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087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Sovereign Recovery Kernel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133856"/>
            <a:ext cx="109087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Niezbywalne prawo właściciela do zatrzymania systemu — siedem trybów awaryjnych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178308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TRYBY OCHRONNE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205740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automatyczne tylko za powiadomieniem właściciela · zawsze odwracalne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" y="2395728"/>
            <a:ext cx="5120640" cy="530352"/>
          </a:xfrm>
          <a:prstGeom prst="roundRect">
            <a:avLst>
              <a:gd name="adj" fmla="val 6897"/>
            </a:avLst>
          </a:prstGeom>
          <a:solidFill>
            <a:srgbClr val="1B2450"/>
          </a:solidFill>
          <a:ln w="12700">
            <a:solidFill>
              <a:srgbClr val="2B356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96112" y="2395728"/>
            <a:ext cx="3291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SAFE_MODE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800600" y="2532888"/>
            <a:ext cx="685800" cy="256032"/>
          </a:xfrm>
          <a:prstGeom prst="roundRect">
            <a:avLst>
              <a:gd name="adj" fmla="val 21429"/>
            </a:avLst>
          </a:prstGeom>
          <a:solidFill>
            <a:srgbClr val="2F7D8E"/>
          </a:solidFill>
          <a:ln w="12700">
            <a:solidFill>
              <a:srgbClr val="2F7D8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00600" y="2532888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R1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40080" y="3017520"/>
            <a:ext cx="5120640" cy="530352"/>
          </a:xfrm>
          <a:prstGeom prst="roundRect">
            <a:avLst>
              <a:gd name="adj" fmla="val 6897"/>
            </a:avLst>
          </a:prstGeom>
          <a:solidFill>
            <a:srgbClr val="1B2450"/>
          </a:solidFill>
          <a:ln w="12700">
            <a:solidFill>
              <a:srgbClr val="2B356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96112" y="3017520"/>
            <a:ext cx="3291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READ_ONLY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800600" y="3154680"/>
            <a:ext cx="685800" cy="256032"/>
          </a:xfrm>
          <a:prstGeom prst="roundRect">
            <a:avLst>
              <a:gd name="adj" fmla="val 21429"/>
            </a:avLst>
          </a:prstGeom>
          <a:solidFill>
            <a:srgbClr val="2F7D8E"/>
          </a:solidFill>
          <a:ln w="12700">
            <a:solidFill>
              <a:srgbClr val="2F7D8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00600" y="3154680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R1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40080" y="3639312"/>
            <a:ext cx="5120640" cy="530352"/>
          </a:xfrm>
          <a:prstGeom prst="roundRect">
            <a:avLst>
              <a:gd name="adj" fmla="val 6897"/>
            </a:avLst>
          </a:prstGeom>
          <a:solidFill>
            <a:srgbClr val="1B2450"/>
          </a:solidFill>
          <a:ln w="12700">
            <a:solidFill>
              <a:srgbClr val="2B356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96112" y="3639312"/>
            <a:ext cx="3291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FREEZE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800600" y="3776472"/>
            <a:ext cx="685800" cy="256032"/>
          </a:xfrm>
          <a:prstGeom prst="roundRect">
            <a:avLst>
              <a:gd name="adj" fmla="val 21429"/>
            </a:avLst>
          </a:prstGeom>
          <a:solidFill>
            <a:srgbClr val="2F7D8E"/>
          </a:solidFill>
          <a:ln w="12700">
            <a:solidFill>
              <a:srgbClr val="2F7D8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00600" y="3776472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R2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40080" y="4261104"/>
            <a:ext cx="5120640" cy="530352"/>
          </a:xfrm>
          <a:prstGeom prst="roundRect">
            <a:avLst>
              <a:gd name="adj" fmla="val 6897"/>
            </a:avLst>
          </a:prstGeom>
          <a:solidFill>
            <a:srgbClr val="1B2450"/>
          </a:solidFill>
          <a:ln w="12700">
            <a:solidFill>
              <a:srgbClr val="2B356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96112" y="4261104"/>
            <a:ext cx="3291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DISCONNECT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800600" y="4398264"/>
            <a:ext cx="685800" cy="256032"/>
          </a:xfrm>
          <a:prstGeom prst="roundRect">
            <a:avLst>
              <a:gd name="adj" fmla="val 21429"/>
            </a:avLst>
          </a:prstGeom>
          <a:solidFill>
            <a:srgbClr val="2F7D8E"/>
          </a:solidFill>
          <a:ln w="12700">
            <a:solidFill>
              <a:srgbClr val="2F7D8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00600" y="4398264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R2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355080" y="178308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9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TRYBY KONSEKWENTNE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355080" y="205740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wyłącznie ręcznie · ROLLBACK i RECOVERY wymagają drugiego klucza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355080" y="2395728"/>
            <a:ext cx="5193792" cy="530352"/>
          </a:xfrm>
          <a:prstGeom prst="roundRect">
            <a:avLst>
              <a:gd name="adj" fmla="val 6897"/>
            </a:avLst>
          </a:prstGeom>
          <a:solidFill>
            <a:srgbClr val="1B2450"/>
          </a:solidFill>
          <a:ln w="12700">
            <a:solidFill>
              <a:srgbClr val="2B356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611112" y="2395728"/>
            <a:ext cx="3291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ROLLBACK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10607040" y="2532888"/>
            <a:ext cx="685800" cy="256032"/>
          </a:xfrm>
          <a:prstGeom prst="roundRect">
            <a:avLst>
              <a:gd name="adj" fmla="val 21429"/>
            </a:avLst>
          </a:prstGeom>
          <a:solidFill>
            <a:srgbClr val="D99A2B"/>
          </a:solidFill>
          <a:ln w="12700">
            <a:solidFill>
              <a:srgbClr val="D99A2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607040" y="2532888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5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R3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355080" y="3017520"/>
            <a:ext cx="5193792" cy="530352"/>
          </a:xfrm>
          <a:prstGeom prst="roundRect">
            <a:avLst>
              <a:gd name="adj" fmla="val 6897"/>
            </a:avLst>
          </a:prstGeom>
          <a:solidFill>
            <a:srgbClr val="1B2450"/>
          </a:solidFill>
          <a:ln w="12700">
            <a:solidFill>
              <a:srgbClr val="2B356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611112" y="3017520"/>
            <a:ext cx="3291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10607040" y="3154680"/>
            <a:ext cx="685800" cy="256032"/>
          </a:xfrm>
          <a:prstGeom prst="roundRect">
            <a:avLst>
              <a:gd name="adj" fmla="val 21429"/>
            </a:avLst>
          </a:prstGeom>
          <a:solidFill>
            <a:srgbClr val="D99A2B"/>
          </a:solidFill>
          <a:ln w="12700">
            <a:solidFill>
              <a:srgbClr val="D99A2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607040" y="3154680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5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R2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355080" y="3639312"/>
            <a:ext cx="5193792" cy="530352"/>
          </a:xfrm>
          <a:prstGeom prst="roundRect">
            <a:avLst>
              <a:gd name="adj" fmla="val 6897"/>
            </a:avLst>
          </a:prstGeom>
          <a:solidFill>
            <a:srgbClr val="1B2450"/>
          </a:solidFill>
          <a:ln w="12700">
            <a:solidFill>
              <a:srgbClr val="2B356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611112" y="3639312"/>
            <a:ext cx="3291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RECOVERY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10607040" y="3776472"/>
            <a:ext cx="685800" cy="256032"/>
          </a:xfrm>
          <a:prstGeom prst="roundRect">
            <a:avLst>
              <a:gd name="adj" fmla="val 21429"/>
            </a:avLst>
          </a:prstGeom>
          <a:solidFill>
            <a:srgbClr val="D99A2B"/>
          </a:solidFill>
          <a:ln w="12700">
            <a:solidFill>
              <a:srgbClr val="D99A2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0607040" y="3776472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5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R4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40080" y="5120640"/>
            <a:ext cx="3502152" cy="1097280"/>
          </a:xfrm>
          <a:prstGeom prst="roundRect">
            <a:avLst>
              <a:gd name="adj" fmla="val 4167"/>
            </a:avLst>
          </a:prstGeom>
          <a:solidFill>
            <a:srgbClr val="1B2450"/>
          </a:solidFill>
          <a:ln w="12700">
            <a:solidFill>
              <a:srgbClr val="2B356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59536" y="5248656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9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Brak API do zmiany polityki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859536" y="5559552"/>
            <a:ext cx="3108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A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nie wyłączy tego, co nie ma settera.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4325112" y="5120640"/>
            <a:ext cx="3502152" cy="1097280"/>
          </a:xfrm>
          <a:prstGeom prst="roundRect">
            <a:avLst>
              <a:gd name="adj" fmla="val 4167"/>
            </a:avLst>
          </a:prstGeom>
          <a:solidFill>
            <a:srgbClr val="1B2450"/>
          </a:solidFill>
          <a:ln w="12700">
            <a:solidFill>
              <a:srgbClr val="2B3563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544568" y="5248656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9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nigdy nie aktywuje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4544568" y="5559552"/>
            <a:ext cx="3108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A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AGENT, SERVICE i SYSTEM_PROCESS dostają odmowę — a sama odmowa jest logowana.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8010144" y="5120640"/>
            <a:ext cx="3502152" cy="1097280"/>
          </a:xfrm>
          <a:prstGeom prst="roundRect">
            <a:avLst>
              <a:gd name="adj" fmla="val 4167"/>
            </a:avLst>
          </a:prstGeom>
          <a:solidFill>
            <a:srgbClr val="1B2450"/>
          </a:solidFill>
          <a:ln w="12700">
            <a:solidFill>
              <a:srgbClr val="2B3563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229600" y="5248656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9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zależności od AI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8229600" y="5559552"/>
            <a:ext cx="3108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A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Warstwa ratunkowa działa bez modelu i bez sieci.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087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15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Silnik decyzji: bramy przed rankingiem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133856"/>
            <a:ext cx="109087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Warstwa 5 — dziewięć twardych bram G0–G8 działa, zanim cokolwiek zostanie uszeregowane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5532120" cy="2148840"/>
          </a:xfrm>
          <a:prstGeom prst="roundRect">
            <a:avLst>
              <a:gd name="adj" fmla="val 1702"/>
            </a:avLst>
          </a:prstGeom>
          <a:solidFill>
            <a:srgbClr val="FFFFFF"/>
          </a:solidFill>
          <a:ln w="12700">
            <a:solidFill>
              <a:srgbClr val="DFE3EE"/>
            </a:solidFill>
            <a:prstDash val="solid"/>
          </a:ln>
          <a:effectLst>
            <a:outerShdw sx="100000" sy="100000" kx="0" ky="0" algn="bl" rotWithShape="0" blurRad="101600" dist="12700" dir="5400000">
              <a:srgbClr val="9AA0B8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1901952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Nieprzemienność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14400" y="2267712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Kandydat odrzucony przez bramę nie wraca do gry później, nawet z wysokim wynikiem. Kolejność bram i rankingu nie jest wymienna.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914400" y="3200400"/>
            <a:ext cx="502920" cy="256032"/>
          </a:xfrm>
          <a:prstGeom prst="roundRect">
            <a:avLst>
              <a:gd name="adj" fmla="val 21429"/>
            </a:avLst>
          </a:prstGeom>
          <a:solidFill>
            <a:srgbClr val="0F1533"/>
          </a:solidFill>
          <a:ln w="12700">
            <a:solidFill>
              <a:srgbClr val="0F15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3200400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G0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490472" y="3200400"/>
            <a:ext cx="502920" cy="256032"/>
          </a:xfrm>
          <a:prstGeom prst="roundRect">
            <a:avLst>
              <a:gd name="adj" fmla="val 21429"/>
            </a:avLst>
          </a:prstGeom>
          <a:solidFill>
            <a:srgbClr val="0F1533"/>
          </a:solidFill>
          <a:ln w="12700">
            <a:solidFill>
              <a:srgbClr val="0F15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490472" y="3200400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G1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066544" y="3200400"/>
            <a:ext cx="502920" cy="256032"/>
          </a:xfrm>
          <a:prstGeom prst="roundRect">
            <a:avLst>
              <a:gd name="adj" fmla="val 21429"/>
            </a:avLst>
          </a:prstGeom>
          <a:solidFill>
            <a:srgbClr val="0F1533"/>
          </a:solidFill>
          <a:ln w="12700">
            <a:solidFill>
              <a:srgbClr val="0F15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066544" y="3200400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G2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642616" y="3200400"/>
            <a:ext cx="502920" cy="256032"/>
          </a:xfrm>
          <a:prstGeom prst="roundRect">
            <a:avLst>
              <a:gd name="adj" fmla="val 21429"/>
            </a:avLst>
          </a:prstGeom>
          <a:solidFill>
            <a:srgbClr val="0F1533"/>
          </a:solidFill>
          <a:ln w="12700">
            <a:solidFill>
              <a:srgbClr val="0F15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42616" y="3200400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G3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218688" y="3200400"/>
            <a:ext cx="502920" cy="256032"/>
          </a:xfrm>
          <a:prstGeom prst="roundRect">
            <a:avLst>
              <a:gd name="adj" fmla="val 21429"/>
            </a:avLst>
          </a:prstGeom>
          <a:solidFill>
            <a:srgbClr val="0F1533"/>
          </a:solidFill>
          <a:ln w="12700">
            <a:solidFill>
              <a:srgbClr val="0F15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18688" y="3200400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G4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794760" y="3200400"/>
            <a:ext cx="502920" cy="256032"/>
          </a:xfrm>
          <a:prstGeom prst="roundRect">
            <a:avLst>
              <a:gd name="adj" fmla="val 21429"/>
            </a:avLst>
          </a:prstGeom>
          <a:solidFill>
            <a:srgbClr val="0F1533"/>
          </a:solidFill>
          <a:ln w="12700">
            <a:solidFill>
              <a:srgbClr val="0F15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794760" y="3200400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G5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370832" y="3200400"/>
            <a:ext cx="502920" cy="256032"/>
          </a:xfrm>
          <a:prstGeom prst="roundRect">
            <a:avLst>
              <a:gd name="adj" fmla="val 21429"/>
            </a:avLst>
          </a:prstGeom>
          <a:solidFill>
            <a:srgbClr val="0F1533"/>
          </a:solidFill>
          <a:ln w="12700">
            <a:solidFill>
              <a:srgbClr val="0F153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370832" y="3200400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G6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946904" y="3200400"/>
            <a:ext cx="502920" cy="256032"/>
          </a:xfrm>
          <a:prstGeom prst="roundRect">
            <a:avLst>
              <a:gd name="adj" fmla="val 21429"/>
            </a:avLst>
          </a:prstGeom>
          <a:solidFill>
            <a:srgbClr val="0F1533"/>
          </a:solidFill>
          <a:ln w="12700">
            <a:solidFill>
              <a:srgbClr val="0F15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46904" y="3200400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G7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522976" y="3200400"/>
            <a:ext cx="502920" cy="256032"/>
          </a:xfrm>
          <a:prstGeom prst="roundRect">
            <a:avLst>
              <a:gd name="adj" fmla="val 21429"/>
            </a:avLst>
          </a:prstGeom>
          <a:solidFill>
            <a:srgbClr val="0F1533"/>
          </a:solidFill>
          <a:ln w="12700">
            <a:solidFill>
              <a:srgbClr val="0F153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522976" y="3200400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G8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40080" y="4069080"/>
            <a:ext cx="5532120" cy="201168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 w="12700">
            <a:solidFill>
              <a:srgbClr val="DFE3EE"/>
            </a:solidFill>
            <a:prstDash val="solid"/>
          </a:ln>
          <a:effectLst>
            <a:outerShdw sx="100000" sy="100000" kx="0" ky="0" algn="bl" rotWithShape="0" blurRad="101600" dist="12700" dir="5400000">
              <a:srgbClr val="9AA0B8">
                <a:alpha val="1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914400" y="4233672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Asymetria dowodowa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914400" y="4599432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 wyższa klasa ryzyka, tym wyższy próg wymaganego dowodu (skala 0–5). Klasa R-KRYTYCZNE nie jest dopuszczalna w żadnym wariancie.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914400" y="5532120"/>
            <a:ext cx="1600200" cy="256032"/>
          </a:xfrm>
          <a:prstGeom prst="roundRect">
            <a:avLst>
              <a:gd name="adj" fmla="val 21429"/>
            </a:avLst>
          </a:prstGeom>
          <a:solidFill>
            <a:srgbClr val="9E2B32"/>
          </a:solidFill>
          <a:ln w="12700">
            <a:solidFill>
              <a:srgbClr val="9E2B3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14400" y="5532120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R-KRYTYCZNE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2651760" y="553212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E2B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nigdy dopuszczalne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537960" y="1737360"/>
            <a:ext cx="5010912" cy="1298448"/>
          </a:xfrm>
          <a:prstGeom prst="roundRect">
            <a:avLst>
              <a:gd name="adj" fmla="val 2817"/>
            </a:avLst>
          </a:prstGeom>
          <a:solidFill>
            <a:srgbClr val="FFFFFF"/>
          </a:solidFill>
          <a:ln w="12700">
            <a:solidFill>
              <a:srgbClr val="DFE3EE"/>
            </a:solidFill>
            <a:prstDash val="solid"/>
          </a:ln>
          <a:effectLst>
            <a:outerShdw sx="100000" sy="100000" kx="0" ky="0" algn="bl" rotWithShape="0" blurRad="101600" dist="12700" dir="5400000">
              <a:srgbClr val="9AA0B8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6812280" y="1883664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F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Abstencja jest wynikiem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6812280" y="2231136"/>
            <a:ext cx="4480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Osiem nazwanych powodów wstrzymania się od rekomendacji — nie awaria, tylko odpowiedź.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537960" y="3227832"/>
            <a:ext cx="5010912" cy="1298448"/>
          </a:xfrm>
          <a:prstGeom prst="roundRect">
            <a:avLst>
              <a:gd name="adj" fmla="val 2817"/>
            </a:avLst>
          </a:prstGeom>
          <a:solidFill>
            <a:srgbClr val="FFFFFF"/>
          </a:solidFill>
          <a:ln w="12700">
            <a:solidFill>
              <a:srgbClr val="DFE3EE"/>
            </a:solidFill>
            <a:prstDash val="solid"/>
          </a:ln>
          <a:effectLst>
            <a:outerShdw sx="100000" sy="100000" kx="0" ky="0" algn="bl" rotWithShape="0" blurRad="101600" dist="12700" dir="5400000">
              <a:srgbClr val="9AA0B8">
                <a:alpha val="18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6812280" y="3374136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F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Eskalacja trójstopniowa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6812280" y="3721608"/>
            <a:ext cx="4480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Miękka, warunkowa i twarda — decyzja wraca do człowieka, gdy przekracza kompetencje systemu.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6537960" y="4718304"/>
            <a:ext cx="5010912" cy="1298448"/>
          </a:xfrm>
          <a:prstGeom prst="roundRect">
            <a:avLst>
              <a:gd name="adj" fmla="val 2817"/>
            </a:avLst>
          </a:prstGeom>
          <a:solidFill>
            <a:srgbClr val="FFFFFF"/>
          </a:solidFill>
          <a:ln w="12700">
            <a:solidFill>
              <a:srgbClr val="DFE3EE"/>
            </a:solidFill>
            <a:prstDash val="solid"/>
          </a:ln>
          <a:effectLst>
            <a:outerShdw sx="100000" sy="100000" kx="0" ky="0" algn="bl" rotWithShape="0" blurRad="101600" dist="12700" dir="5400000">
              <a:srgbClr val="9AA0B8">
                <a:alpha val="18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6812280" y="4864608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F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Dwie niezmienności w kodzie</a:t>
            </a:r>
            <a:endParaRPr lang="en-US" sz="1500" dirty="0"/>
          </a:p>
        </p:txBody>
      </p:sp>
      <p:sp>
        <p:nvSpPr>
          <p:cNvPr id="39" name="Text 37"/>
          <p:cNvSpPr/>
          <p:nvPr/>
        </p:nvSpPr>
        <p:spPr>
          <a:xfrm>
            <a:off x="6812280" y="5212080"/>
            <a:ext cx="4480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Pole „user_determination” nie jest czytane przez nic. Pole „sponsored” nie istnieje w kluczu rankingu.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087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15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Żywy model siebie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133856"/>
            <a:ext cx="109087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Rozmowa nigdy nie staje się faktem automatycznie (ADR-SELFMODEL-001)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3502152" cy="1481328"/>
          </a:xfrm>
          <a:prstGeom prst="roundRect">
            <a:avLst>
              <a:gd name="adj" fmla="val 2469"/>
            </a:avLst>
          </a:prstGeom>
          <a:solidFill>
            <a:srgbClr val="FFFFFF"/>
          </a:solidFill>
          <a:ln w="12700">
            <a:solidFill>
              <a:srgbClr val="DFE3EE"/>
            </a:solidFill>
            <a:prstDash val="solid"/>
          </a:ln>
          <a:effectLst>
            <a:outerShdw sx="100000" sy="100000" kx="0" ky="0" algn="bl" rotWithShape="0" blurRad="101600" dist="12700" dir="5400000">
              <a:srgbClr val="9AA0B8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96112" y="1993392"/>
            <a:ext cx="1371600" cy="256032"/>
          </a:xfrm>
          <a:prstGeom prst="roundRect">
            <a:avLst>
              <a:gd name="adj" fmla="val 21429"/>
            </a:avLst>
          </a:prstGeom>
          <a:solidFill>
            <a:srgbClr val="2F7D8E"/>
          </a:solidFill>
          <a:ln w="12700">
            <a:solidFill>
              <a:srgbClr val="2F7D8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96112" y="199339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DEKLARACJA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96112" y="2395728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Użytkownik powiedział to wprost o sobie.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325112" y="1783080"/>
            <a:ext cx="3502152" cy="1481328"/>
          </a:xfrm>
          <a:prstGeom prst="roundRect">
            <a:avLst>
              <a:gd name="adj" fmla="val 2469"/>
            </a:avLst>
          </a:prstGeom>
          <a:solidFill>
            <a:srgbClr val="FFFFFF"/>
          </a:solidFill>
          <a:ln w="12700">
            <a:solidFill>
              <a:srgbClr val="DFE3EE"/>
            </a:solidFill>
            <a:prstDash val="solid"/>
          </a:ln>
          <a:effectLst>
            <a:outerShdw sx="100000" sy="100000" kx="0" ky="0" algn="bl" rotWithShape="0" blurRad="101600" dist="12700" dir="5400000">
              <a:srgbClr val="9AA0B8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81144" y="1993392"/>
            <a:ext cx="1371600" cy="256032"/>
          </a:xfrm>
          <a:prstGeom prst="roundRect">
            <a:avLst>
              <a:gd name="adj" fmla="val 21429"/>
            </a:avLst>
          </a:prstGeom>
          <a:solidFill>
            <a:srgbClr val="4F9AA8"/>
          </a:solidFill>
          <a:ln w="12700">
            <a:solidFill>
              <a:srgbClr val="4F9AA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81144" y="199339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OBSERWACJA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81144" y="2395728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zauważył wzorzec w danych, które mu powierzono.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010144" y="1783080"/>
            <a:ext cx="3502152" cy="1481328"/>
          </a:xfrm>
          <a:prstGeom prst="roundRect">
            <a:avLst>
              <a:gd name="adj" fmla="val 2469"/>
            </a:avLst>
          </a:prstGeom>
          <a:solidFill>
            <a:srgbClr val="FFFFFF"/>
          </a:solidFill>
          <a:ln w="12700">
            <a:solidFill>
              <a:srgbClr val="DFE3EE"/>
            </a:solidFill>
            <a:prstDash val="solid"/>
          </a:ln>
          <a:effectLst>
            <a:outerShdw sx="100000" sy="100000" kx="0" ky="0" algn="bl" rotWithShape="0" blurRad="101600" dist="12700" dir="5400000">
              <a:srgbClr val="9AA0B8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266176" y="1993392"/>
            <a:ext cx="1371600" cy="256032"/>
          </a:xfrm>
          <a:prstGeom prst="roundRect">
            <a:avLst>
              <a:gd name="adj" fmla="val 21429"/>
            </a:avLst>
          </a:prstGeom>
          <a:solidFill>
            <a:srgbClr val="D99A2B"/>
          </a:solidFill>
          <a:ln w="12700">
            <a:solidFill>
              <a:srgbClr val="D99A2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66176" y="199339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5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HIPOTEZA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266176" y="2395728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Domysł — wymaga wskazania dowodu i nigdy nie jest podawany jak fakt.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0080" y="3794760"/>
            <a:ext cx="274320" cy="274320"/>
          </a:xfrm>
          <a:prstGeom prst="ellipse">
            <a:avLst/>
          </a:prstGeom>
          <a:solidFill>
            <a:srgbClr val="0F1533"/>
          </a:solidFill>
          <a:ln w="12700">
            <a:solidFill>
              <a:srgbClr val="0F15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37947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51560" y="3749040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Tylko użytkownik potwierdza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051560" y="4078224"/>
            <a:ext cx="4892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Potwierdzenie, odrzucenie i korekta są wyłącznie w jego rękach.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245352" y="3794760"/>
            <a:ext cx="274320" cy="274320"/>
          </a:xfrm>
          <a:prstGeom prst="ellipse">
            <a:avLst/>
          </a:prstGeom>
          <a:solidFill>
            <a:srgbClr val="0F1533"/>
          </a:solidFill>
          <a:ln w="12700">
            <a:solidFill>
              <a:srgbClr val="0F153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45352" y="37947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656832" y="3749040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Historia nigdy nie znika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656832" y="4078224"/>
            <a:ext cx="4892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Zmiana tworzy nową wersję przez łańcuch „supersedes”; odrzucenie oznacza CONTESTED, nie usunięcie.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40080" y="5001768"/>
            <a:ext cx="274320" cy="274320"/>
          </a:xfrm>
          <a:prstGeom prst="ellipse">
            <a:avLst/>
          </a:prstGeom>
          <a:solidFill>
            <a:srgbClr val="0F1533"/>
          </a:solidFill>
          <a:ln w="12700">
            <a:solidFill>
              <a:srgbClr val="0F153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" y="500176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051560" y="4956048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Sprzeczność to sygnał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051560" y="5285232"/>
            <a:ext cx="4892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Napięcie między zapisami jest zachowywane; rozstrzyga je tylko osoba, której dotyczy.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245352" y="5001768"/>
            <a:ext cx="274320" cy="274320"/>
          </a:xfrm>
          <a:prstGeom prst="ellipse">
            <a:avLst/>
          </a:prstGeom>
          <a:solidFill>
            <a:srgbClr val="0F1533"/>
          </a:solidFill>
          <a:ln w="12700">
            <a:solidFill>
              <a:srgbClr val="0F153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245352" y="500176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656832" y="4956048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Pełna proweniencja: why()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6656832" y="5285232"/>
            <a:ext cx="4892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Dla każdego zapisu: cytat, autor, pasmo pewności i cała historia zmian.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40080" y="6291072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A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Silnik nie zawiera NLP — rozpoznawanie kandydatów na zapisy to zadanie aplikacji, nie jądra.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087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15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Bezpieczeństwo i dojrzałość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133856"/>
            <a:ext cx="109087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 już działa — i czego świadomie jeszcze nie ma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3429000" cy="1170432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12700">
            <a:solidFill>
              <a:srgbClr val="DFE3EE"/>
            </a:solidFill>
            <a:prstDash val="solid"/>
          </a:ln>
          <a:effectLst>
            <a:outerShdw sx="100000" sy="100000" kx="0" ky="0" algn="bl" rotWithShape="0" blurRad="101600" dist="12700" dir="5400000">
              <a:srgbClr val="9AA0B8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2002536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Podpisane koperty HOSP/0.2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68680" y="233172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kanoniczny JSON, HMAC, znacznik protokołu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251960" y="1783080"/>
            <a:ext cx="3429000" cy="1170432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12700">
            <a:solidFill>
              <a:srgbClr val="DFE3EE"/>
            </a:solidFill>
            <a:prstDash val="solid"/>
          </a:ln>
          <a:effectLst>
            <a:outerShdw sx="100000" sy="100000" kx="0" ky="0" algn="bl" rotWithShape="0" blurRad="101600" dist="12700" dir="5400000">
              <a:srgbClr val="9AA0B8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480560" y="2002536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Rejestr tożsamości i kluczy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480560" y="233172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rotacja kluczy, powiązanie klucza z tożsamością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" y="3154680"/>
            <a:ext cx="3429000" cy="1170432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12700">
            <a:solidFill>
              <a:srgbClr val="DFE3EE"/>
            </a:solidFill>
            <a:prstDash val="solid"/>
          </a:ln>
          <a:effectLst>
            <a:outerShdw sx="100000" sy="100000" kx="0" ky="0" algn="bl" rotWithShape="0" blurRad="101600" dist="12700" dir="5400000">
              <a:srgbClr val="9AA0B8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68680" y="3374136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ReplayGuard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68680" y="370332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nonce, wygasanie, śledzenie identyfikatorów komunikatów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251960" y="3154680"/>
            <a:ext cx="3429000" cy="1170432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12700">
            <a:solidFill>
              <a:srgbClr val="DFE3EE"/>
            </a:solidFill>
            <a:prstDash val="solid"/>
          </a:ln>
          <a:effectLst>
            <a:outerShdw sx="100000" sy="100000" kx="0" ky="0" algn="bl" rotWithShape="0" blurRad="101600" dist="12700" dir="5400000">
              <a:srgbClr val="9AA0B8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480560" y="3374136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Jawne polityki zaufania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480560" y="370332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TrustLevel i TrustPolicy zamiast domyślnego zaufania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0080" y="4526280"/>
            <a:ext cx="3429000" cy="1170432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12700">
            <a:solidFill>
              <a:srgbClr val="DFE3EE"/>
            </a:solidFill>
            <a:prstDash val="solid"/>
          </a:ln>
          <a:effectLst>
            <a:outerShdw sx="100000" sy="100000" kx="0" ky="0" algn="bl" rotWithShape="0" blurRad="101600" dist="12700" dir="5400000">
              <a:srgbClr val="9AA0B8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68680" y="4745736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Gateway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68680" y="507492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dziesięciokrokowy potok kontroli przed wykonaniem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251960" y="4526280"/>
            <a:ext cx="3429000" cy="1170432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12700">
            <a:solidFill>
              <a:srgbClr val="DFE3EE"/>
            </a:solidFill>
            <a:prstDash val="solid"/>
          </a:ln>
          <a:effectLst>
            <a:outerShdw sx="100000" sy="100000" kx="0" ky="0" algn="bl" rotWithShape="0" blurRad="101600" dist="12700" dir="5400000">
              <a:srgbClr val="9AA0B8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480560" y="4745736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Łańcuch skrótów SHA-256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480560" y="507492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weryfikowalna integralność dziennika zdarzeń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8001000" y="1783080"/>
            <a:ext cx="3547872" cy="4023360"/>
          </a:xfrm>
          <a:prstGeom prst="roundRect">
            <a:avLst>
              <a:gd name="adj" fmla="val 1289"/>
            </a:avLst>
          </a:prstGeom>
          <a:solidFill>
            <a:srgbClr val="9E2B32"/>
          </a:solidFill>
          <a:ln w="12700">
            <a:solidFill>
              <a:srgbClr val="9E2B3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75320" y="1993392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Nie jest produkcyjne</a:t>
            </a:r>
            <a:endParaRPr lang="en-US" sz="1900" dirty="0"/>
          </a:p>
        </p:txBody>
      </p:sp>
      <p:sp>
        <p:nvSpPr>
          <p:cNvPr id="24" name="Text 22"/>
          <p:cNvSpPr/>
          <p:nvPr/>
        </p:nvSpPr>
        <p:spPr>
          <a:xfrm>
            <a:off x="8275320" y="2468880"/>
            <a:ext cx="30175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Brak uwierzytelniania i autoryzacji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Brak szyfrowania danych w spoczynku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Brak niezależnego przeglądu bezpieczeństwa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Brak kalibracji empirycznej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HMAC to mechanizm referencyjny, lokalny — nie podpis asymetryczny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8275320" y="528523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2C9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security/THREAT_MODEL.md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5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087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Stan implementacji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133856"/>
            <a:ext cx="109087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Silnik referencyjny, stan na sierpień 2026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3502152" cy="1691640"/>
          </a:xfrm>
          <a:prstGeom prst="roundRect">
            <a:avLst>
              <a:gd name="adj" fmla="val 2162"/>
            </a:avLst>
          </a:prstGeom>
          <a:solidFill>
            <a:srgbClr val="1B2450"/>
          </a:solidFill>
          <a:ln w="12700">
            <a:solidFill>
              <a:srgbClr val="2B356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2039112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D99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36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914400" y="2834640"/>
            <a:ext cx="2971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modułów silnika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14400" y="3136392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0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hos_engine/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325112" y="1874520"/>
            <a:ext cx="3502152" cy="1691640"/>
          </a:xfrm>
          <a:prstGeom prst="roundRect">
            <a:avLst>
              <a:gd name="adj" fmla="val 2162"/>
            </a:avLst>
          </a:prstGeom>
          <a:solidFill>
            <a:srgbClr val="1B2450"/>
          </a:solidFill>
          <a:ln w="12700">
            <a:solidFill>
              <a:srgbClr val="2B356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99432" y="2039112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D99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166</a:t>
            </a:r>
            <a:endParaRPr lang="en-US" sz="4800" dirty="0"/>
          </a:p>
        </p:txBody>
      </p:sp>
      <p:sp>
        <p:nvSpPr>
          <p:cNvPr id="10" name="Text 8"/>
          <p:cNvSpPr/>
          <p:nvPr/>
        </p:nvSpPr>
        <p:spPr>
          <a:xfrm>
            <a:off x="4599432" y="2834640"/>
            <a:ext cx="2971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testów automatycznych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99432" y="3136392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0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3.11 / 3.12 / 3.13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8010144" y="1874520"/>
            <a:ext cx="3502152" cy="1691640"/>
          </a:xfrm>
          <a:prstGeom prst="roundRect">
            <a:avLst>
              <a:gd name="adj" fmla="val 2162"/>
            </a:avLst>
          </a:prstGeom>
          <a:solidFill>
            <a:srgbClr val="1B2450"/>
          </a:solidFill>
          <a:ln w="12700">
            <a:solidFill>
              <a:srgbClr val="2B356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84464" y="2039112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D99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4800" dirty="0"/>
          </a:p>
        </p:txBody>
      </p:sp>
      <p:sp>
        <p:nvSpPr>
          <p:cNvPr id="14" name="Text 12"/>
          <p:cNvSpPr/>
          <p:nvPr/>
        </p:nvSpPr>
        <p:spPr>
          <a:xfrm>
            <a:off x="8284464" y="2834640"/>
            <a:ext cx="2971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testów konstytucyjnych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284464" y="3136392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0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Proof Kernel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40080" y="3840480"/>
            <a:ext cx="3502152" cy="1691640"/>
          </a:xfrm>
          <a:prstGeom prst="roundRect">
            <a:avLst>
              <a:gd name="adj" fmla="val 2162"/>
            </a:avLst>
          </a:prstGeom>
          <a:solidFill>
            <a:srgbClr val="1B2450"/>
          </a:solidFill>
          <a:ln w="12700">
            <a:solidFill>
              <a:srgbClr val="2B356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4005072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D99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</a:t>
            </a:r>
            <a:endParaRPr lang="en-US" sz="4800" dirty="0"/>
          </a:p>
        </p:txBody>
      </p:sp>
      <p:sp>
        <p:nvSpPr>
          <p:cNvPr id="18" name="Text 16"/>
          <p:cNvSpPr/>
          <p:nvPr/>
        </p:nvSpPr>
        <p:spPr>
          <a:xfrm>
            <a:off x="914400" y="4800600"/>
            <a:ext cx="2971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genów konstytucyjnych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14400" y="5102352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0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genome.registry.json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325112" y="3840480"/>
            <a:ext cx="3502152" cy="1691640"/>
          </a:xfrm>
          <a:prstGeom prst="roundRect">
            <a:avLst>
              <a:gd name="adj" fmla="val 2162"/>
            </a:avLst>
          </a:prstGeom>
          <a:solidFill>
            <a:srgbClr val="1B2450"/>
          </a:solidFill>
          <a:ln w="12700">
            <a:solidFill>
              <a:srgbClr val="2B356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99432" y="4005072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D99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</a:t>
            </a:r>
            <a:endParaRPr lang="en-US" sz="4800" dirty="0"/>
          </a:p>
        </p:txBody>
      </p:sp>
      <p:sp>
        <p:nvSpPr>
          <p:cNvPr id="22" name="Text 20"/>
          <p:cNvSpPr/>
          <p:nvPr/>
        </p:nvSpPr>
        <p:spPr>
          <a:xfrm>
            <a:off x="4599432" y="4800600"/>
            <a:ext cx="2971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schematów JSON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599432" y="5102352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0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Draft 2020-12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8010144" y="3840480"/>
            <a:ext cx="3502152" cy="1691640"/>
          </a:xfrm>
          <a:prstGeom prst="roundRect">
            <a:avLst>
              <a:gd name="adj" fmla="val 2162"/>
            </a:avLst>
          </a:prstGeom>
          <a:solidFill>
            <a:srgbClr val="1B2450"/>
          </a:solidFill>
          <a:ln w="12700">
            <a:solidFill>
              <a:srgbClr val="2B356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284464" y="4005072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D99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67</a:t>
            </a:r>
            <a:endParaRPr lang="en-US" sz="4800" dirty="0"/>
          </a:p>
        </p:txBody>
      </p:sp>
      <p:sp>
        <p:nvSpPr>
          <p:cNvPr id="26" name="Text 24"/>
          <p:cNvSpPr/>
          <p:nvPr/>
        </p:nvSpPr>
        <p:spPr>
          <a:xfrm>
            <a:off x="8284464" y="4800600"/>
            <a:ext cx="2971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rekordów decyzji (ADR)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8284464" y="5102352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0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docs/adr/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40080" y="6291072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A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Zerowy dług mypy w silniku. CI: ruff + pytest na trzech wersjach Pythona.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087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15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Droga do 1.0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133856"/>
            <a:ext cx="109087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Osiem etapów zamkniętych, jeden otwarty, jeden przed nami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2606040" cy="713232"/>
          </a:xfrm>
          <a:prstGeom prst="roundRect">
            <a:avLst>
              <a:gd name="adj" fmla="val 6410"/>
            </a:avLst>
          </a:prstGeom>
          <a:solidFill>
            <a:srgbClr val="F2F4FA"/>
          </a:solidFill>
          <a:ln w="12700">
            <a:solidFill>
              <a:srgbClr val="DFE3E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783080"/>
            <a:ext cx="502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7D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371600" y="1783080"/>
            <a:ext cx="1783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Formalny rdzeń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410712" y="1783080"/>
            <a:ext cx="2606040" cy="713232"/>
          </a:xfrm>
          <a:prstGeom prst="roundRect">
            <a:avLst>
              <a:gd name="adj" fmla="val 6410"/>
            </a:avLst>
          </a:prstGeom>
          <a:solidFill>
            <a:srgbClr val="F2F4FA"/>
          </a:solidFill>
          <a:ln w="12700">
            <a:solidFill>
              <a:srgbClr val="DFE3E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593592" y="1783080"/>
            <a:ext cx="502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7D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0.2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142232" y="1783080"/>
            <a:ext cx="1783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Specyfikacja maszynowa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181344" y="1783080"/>
            <a:ext cx="2606040" cy="713232"/>
          </a:xfrm>
          <a:prstGeom prst="roundRect">
            <a:avLst>
              <a:gd name="adj" fmla="val 6410"/>
            </a:avLst>
          </a:prstGeom>
          <a:solidFill>
            <a:srgbClr val="F2F4FA"/>
          </a:solidFill>
          <a:ln w="12700">
            <a:solidFill>
              <a:srgbClr val="DFE3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64224" y="1783080"/>
            <a:ext cx="502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7D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0.3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912864" y="1783080"/>
            <a:ext cx="1783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Silnik polityk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951976" y="1783080"/>
            <a:ext cx="2606040" cy="713232"/>
          </a:xfrm>
          <a:prstGeom prst="roundRect">
            <a:avLst>
              <a:gd name="adj" fmla="val 6410"/>
            </a:avLst>
          </a:prstGeom>
          <a:solidFill>
            <a:srgbClr val="F2F4FA"/>
          </a:solidFill>
          <a:ln w="12700">
            <a:solidFill>
              <a:srgbClr val="DFE3E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34856" y="1783080"/>
            <a:ext cx="502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7D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0.4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683496" y="1783080"/>
            <a:ext cx="1783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Trwały i audytowalny rdzeń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40080" y="2651760"/>
            <a:ext cx="2606040" cy="713232"/>
          </a:xfrm>
          <a:prstGeom prst="roundRect">
            <a:avLst>
              <a:gd name="adj" fmla="val 6410"/>
            </a:avLst>
          </a:prstGeom>
          <a:solidFill>
            <a:srgbClr val="F2F4FA"/>
          </a:solidFill>
          <a:ln w="12700">
            <a:solidFill>
              <a:srgbClr val="DFE3E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2651760"/>
            <a:ext cx="502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7D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0.5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371600" y="2651760"/>
            <a:ext cx="1783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 wiedzy i proweniencja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3410712" y="2651760"/>
            <a:ext cx="2606040" cy="713232"/>
          </a:xfrm>
          <a:prstGeom prst="roundRect">
            <a:avLst>
              <a:gd name="adj" fmla="val 6410"/>
            </a:avLst>
          </a:prstGeom>
          <a:solidFill>
            <a:srgbClr val="F2F4FA"/>
          </a:solidFill>
          <a:ln w="12700">
            <a:solidFill>
              <a:srgbClr val="DFE3E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593592" y="2651760"/>
            <a:ext cx="502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7D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0.6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142232" y="2651760"/>
            <a:ext cx="1783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 agentów i granice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181344" y="2651760"/>
            <a:ext cx="2606040" cy="713232"/>
          </a:xfrm>
          <a:prstGeom prst="roundRect">
            <a:avLst>
              <a:gd name="adj" fmla="val 6410"/>
            </a:avLst>
          </a:prstGeom>
          <a:solidFill>
            <a:srgbClr val="F2F4FA"/>
          </a:solidFill>
          <a:ln w="12700">
            <a:solidFill>
              <a:srgbClr val="DFE3E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364224" y="2651760"/>
            <a:ext cx="502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7D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0.7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912864" y="2651760"/>
            <a:ext cx="1783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Symulacje i scenariusze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8951976" y="2651760"/>
            <a:ext cx="2606040" cy="713232"/>
          </a:xfrm>
          <a:prstGeom prst="roundRect">
            <a:avLst>
              <a:gd name="adj" fmla="val 6410"/>
            </a:avLst>
          </a:prstGeom>
          <a:solidFill>
            <a:srgbClr val="F2F4FA"/>
          </a:solidFill>
          <a:ln w="12700">
            <a:solidFill>
              <a:srgbClr val="DFE3E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34856" y="2651760"/>
            <a:ext cx="502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7D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0.8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9683496" y="2651760"/>
            <a:ext cx="1783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człowieka i zgoda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640080" y="3657600"/>
            <a:ext cx="10908792" cy="1051560"/>
          </a:xfrm>
          <a:prstGeom prst="roundRect">
            <a:avLst>
              <a:gd name="adj" fmla="val 4348"/>
            </a:avLst>
          </a:prstGeom>
          <a:solidFill>
            <a:srgbClr val="D99A2B"/>
          </a:solidFill>
          <a:ln w="12700">
            <a:solidFill>
              <a:srgbClr val="D99A2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14400" y="3657600"/>
            <a:ext cx="7315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5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0.9</a:t>
            </a:r>
            <a:endParaRPr lang="en-US" sz="2400" dirty="0"/>
          </a:p>
        </p:txBody>
      </p:sp>
      <p:sp>
        <p:nvSpPr>
          <p:cNvPr id="30" name="Text 28"/>
          <p:cNvSpPr/>
          <p:nvPr/>
        </p:nvSpPr>
        <p:spPr>
          <a:xfrm>
            <a:off x="1691640" y="3803904"/>
            <a:ext cx="9509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Interoperacyjność protokołu i przegląd bezpieczeństwa — OTWARTE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1691640" y="4151376"/>
            <a:ext cx="9509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42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Warstwy wykonawcze i plastry warstw 2–6 powstały równolegle do tej osi i nie zastępują punktu 0.9.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640080" y="4892040"/>
            <a:ext cx="10908792" cy="1051560"/>
          </a:xfrm>
          <a:prstGeom prst="roundRect">
            <a:avLst>
              <a:gd name="adj" fmla="val 4348"/>
            </a:avLst>
          </a:prstGeom>
          <a:solidFill>
            <a:srgbClr val="0F1533"/>
          </a:solidFill>
          <a:ln w="12700">
            <a:solidFill>
              <a:srgbClr val="0F153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14400" y="4892040"/>
            <a:ext cx="7315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D99A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1.0</a:t>
            </a:r>
            <a:endParaRPr lang="en-US" sz="2400" dirty="0"/>
          </a:p>
        </p:txBody>
      </p:sp>
      <p:sp>
        <p:nvSpPr>
          <p:cNvPr id="34" name="Text 32"/>
          <p:cNvSpPr/>
          <p:nvPr/>
        </p:nvSpPr>
        <p:spPr>
          <a:xfrm>
            <a:off x="1691640" y="5029200"/>
            <a:ext cx="9509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Stabilny protokół, silnik i runtime referencyjny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1691640" y="5376672"/>
            <a:ext cx="9509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Warunki: stabilna Konstytucja i model obiektów · wersjonowany protokół · migracje · udokumentowany przegląd bezpieczeństwa · pełna przenośność danych · mierzalna możliwość wyjścia.</a:t>
            </a:r>
            <a:endParaRPr lang="en-US" sz="11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5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38160" y="1463040"/>
            <a:ext cx="3410712" cy="3931920"/>
          </a:xfrm>
          <a:prstGeom prst="roundRect">
            <a:avLst>
              <a:gd name="adj" fmla="val 1340"/>
            </a:avLst>
          </a:prstGeom>
          <a:solidFill>
            <a:srgbClr val="1B2450"/>
          </a:solidFill>
          <a:ln w="12700">
            <a:solidFill>
              <a:srgbClr val="2B356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412480" y="1691640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9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 dalej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412480" y="219456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make verify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412480" y="246888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A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lint, typy i testy przed każdą zmianą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412480" y="297180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run_demo.py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412480" y="324612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A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ścieżka Proof Kernel od ręki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412480" y="374904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CONTRIBUTING.md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412480" y="402336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A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deklaracja genów w każdym PR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412480" y="452628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GOVERNANCE.md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412480" y="480060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A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zmiana Konstytucji to osobna ścieżka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0080" y="2103120"/>
            <a:ext cx="69494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System, który chce być</a:t>
            </a:r>
            <a:endParaRPr lang="en-US" sz="4000" dirty="0"/>
          </a:p>
          <a:p>
            <a:pPr indent="0" marL="0">
              <a:lnSpc>
                <a:spcPts val="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coraz mniej potrzebny.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640080" y="3794760"/>
            <a:ext cx="6766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9A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OS mierzy się nie tym, jak długo ktoś w nim zostaje, lecz tym, ile autonomii z niego wynosi. Każdy mechanizm w tym repozytorium — bramy, poświadczenia, tryby awaryjne, eksport — służy temu jednemu kryterium.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40080" y="5120640"/>
            <a:ext cx="1143000" cy="256032"/>
          </a:xfrm>
          <a:prstGeom prst="roundRect">
            <a:avLst>
              <a:gd name="adj" fmla="val 21429"/>
            </a:avLst>
          </a:prstGeom>
          <a:solidFill>
            <a:srgbClr val="D99A2B"/>
          </a:solidFill>
          <a:ln w="12700">
            <a:solidFill>
              <a:srgbClr val="D99A2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5120640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5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GEN-012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965960" y="512064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0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github.com/dudsi101-svg/human-os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Human OS — konstytucyjny protokół i silnik referencyjny</dc:title>
  <dc:subject>PptxGenJS Presentation</dc:subject>
  <dc:creator>Human OS Initiative</dc:creator>
  <cp:lastModifiedBy>Human OS Initiative</cp:lastModifiedBy>
  <cp:revision>1</cp:revision>
  <dcterms:created xsi:type="dcterms:W3CDTF">2026-08-17T13:17:40Z</dcterms:created>
  <dcterms:modified xsi:type="dcterms:W3CDTF">2026-08-17T13:17:40Z</dcterms:modified>
</cp:coreProperties>
</file>