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Trzy akty: Pytanie (dlaczego to w ogóle powstało), Reguły (czym są związane obietnice), Podróż (jak wygląda jedna intencja od początku do końca). Epilog mówi, czego jeszcze nie 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akt nie mówi jeszcze o technologii. Mówi o stawce.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Świadomie bez statystyk — deck nie opiera się na liczbach, których nie da się zweryfikować w repozytorium.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jest zwrot akcji całej opowieści: kryterium sukcesu jest odwrócone.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Konstytucja wymienia po sześć pozycji w każdej kolumnie; slajd pokazuje po trzy.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Przejście od „chcemy dobrze” do „oto mechanizm, który tego pilnuje”.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Źródło: ECOSYSTEM.md — kolejność zależności warstw.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Genom to nie ozdobnik: PR bez deklaracji genów nie przechodzi przeglądu.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proof.rules.json v0.2.0; implementacja w hos_engine/policy.py.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 tego miejsca mechanika przestaje być listą funkcji, a staje się fabułą.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HumanIntent to punkt wejścia ExecutionLoop (ADR-CORE-002).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Kolejność bram: IDENTITY → AUTHORITY → CONSENT → CONTEXT → ENTITY → CONSTITUTION. Bramy 4–6 nie są „pominięte” — one się po prostu nie wykonują.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PROOF-003 (test generatywności) ma status porażki APPROVED_WITH_LIMITS — działanie jest dozwolone, ale w ograniczonej formie.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Dziewięć twardych bram G0–G8 działa przed rankingiem; kandydat odrzucony przez bramę nie wraca później nawet z wysokim wynikiem.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Silnik nie zawiera NLP: rozpoznawanie kandydatów na zapisy to zadanie aplikacji.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R0–R3 to skala ryzyka Konstytucji; żaden z siedmiu trybów nie sięga R4, bo wszystkie są mechanizmami sankcjonowanymi. Odmowa jest tu wyjątkiem (RecoveryRefused) — zignorowana ochrona nie może wyglądać jak ochrona działająca.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export_sovereign_package() w hos_engine/recovery.py — jeden z sześciu kontraktów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Jawność ograniczeń nie jest tu skromnością, tylko wymogiem konstytucyjnym (GEN-015, transparentność wpływu).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Zerowy dług mypy w silniku; CI uruchamia ruff i pytest na trzech wersjach Pythona. Kryterium 0.9 zmienione decyzją foundera 2026-08-17 (DD-008).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Klamra: wracamy do pytania ze slajdu 3. Odpowiedź jest jednozdaniowa i celowo nie mówi o technologii.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34440"/>
            <a:ext cx="3566160" cy="566928"/>
          </a:xfrm>
          <a:prstGeom prst="roundRect">
            <a:avLst>
              <a:gd name="adj" fmla="val 8065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18120" y="12344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64424" y="1984248"/>
            <a:ext cx="3273552" cy="566928"/>
          </a:xfrm>
          <a:prstGeom prst="roundRect">
            <a:avLst>
              <a:gd name="adj" fmla="val 8065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64424" y="1984248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/ Hub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10728" y="2734056"/>
            <a:ext cx="2980944" cy="566928"/>
          </a:xfrm>
          <a:prstGeom prst="roundRect">
            <a:avLst>
              <a:gd name="adj" fmla="val 8065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10728" y="2734056"/>
            <a:ext cx="2980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57032" y="3483864"/>
            <a:ext cx="2688336" cy="566928"/>
          </a:xfrm>
          <a:prstGeom prst="roundRect">
            <a:avLst>
              <a:gd name="adj" fmla="val 8065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57032" y="3483864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HOSS / HOSP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403336" y="4233672"/>
            <a:ext cx="2395728" cy="566928"/>
          </a:xfrm>
          <a:prstGeom prst="roundRect">
            <a:avLst>
              <a:gd name="adj" fmla="val 8065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03336" y="4233672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17830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OS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40080" y="2788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Opowieść o autorstwie własnego życia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„Human OS nie decyduje, czym ma stać się życie człowieka.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Pomaga człowiekowi pozostać autorem tego życia.”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434840"/>
            <a:ext cx="9144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348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v0.9.0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45920" y="4434840"/>
            <a:ext cx="822960" cy="256032"/>
          </a:xfrm>
          <a:prstGeom prst="roundRect">
            <a:avLst>
              <a:gd name="adj" fmla="val 21429"/>
            </a:avLst>
          </a:prstGeom>
          <a:solidFill>
            <a:srgbClr val="1B2450"/>
          </a:solidFill>
          <a:ln w="12700">
            <a:solidFill>
              <a:srgbClr val="1B24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443484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06040" y="4434840"/>
            <a:ext cx="2286000" cy="256032"/>
          </a:xfrm>
          <a:prstGeom prst="roundRect">
            <a:avLst>
              <a:gd name="adj" fmla="val 21429"/>
            </a:avLst>
          </a:prstGeom>
          <a:solidFill>
            <a:srgbClr val="1B2450"/>
          </a:solidFill>
          <a:ln w="12700">
            <a:solidFill>
              <a:srgbClr val="1B24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606040" y="44348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/ CC BY 4.0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Konstytucyjny protokół i silnik referencyjny  ·  wydanie 0.9.0  ·  sierpień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0" y="100584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1B24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9000" dirty="0"/>
          </a:p>
        </p:txBody>
      </p:sp>
      <p:sp>
        <p:nvSpPr>
          <p:cNvPr id="3" name="Shape 1"/>
          <p:cNvSpPr/>
          <p:nvPr/>
        </p:nvSpPr>
        <p:spPr>
          <a:xfrm>
            <a:off x="640080" y="214884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488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AKT 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Pytanie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Zanim powstała pierwsza linia kodu, było pytanie: kto właściwie pisze scenariusz twojego dnia — ty czy systemy, z których korzystasz?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Kto jest autorem twojego dnia?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Zwykły poranek, w którym większość wyborów została podjęta zanim się obudziłeś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chodzi o spisek. Chodzi o kierunek optymalizacji: systemy, które nas otaczają, są strojone pod własną metrykę — a ta rzadko brzmi „niech ten człowiek będzie bardziej samodzielny”.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Pytanie nie jest, czy technologia ma wpływ. Pytanie brzmi: czy ten wpływ jest jawny, ograniczony i odwracalny — i czy ktoś go w ogóle egzekwuje.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783080"/>
            <a:ext cx="5056632" cy="11887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12280" y="19842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czytasz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12280" y="23500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E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wybiera ranking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92240" y="3200400"/>
            <a:ext cx="5056632" cy="11887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12280" y="34015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oglądasz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12280" y="37673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E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wybiera rekomendacja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92240" y="4617720"/>
            <a:ext cx="5056632" cy="11887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12280" y="48188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Kiedy przerywasz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12280" y="5184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E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wybiera powiadomienie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Dwie miary sukcesu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sama technologia, dwa zupełnie różne kryteria wygranej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Typowa metryka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249631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czas spędzony w aplikacji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0120" y="3227832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retencja i częstotliwość powrotów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3941064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17320" y="39227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„zaangażowanie” jako cel sam w sobie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960120" y="4654296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54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17320" y="46360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użytkownik, który nie potrafi odejść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55080" y="1737360"/>
            <a:ext cx="5193792" cy="4023360"/>
          </a:xfrm>
          <a:prstGeom prst="roundRect">
            <a:avLst>
              <a:gd name="adj" fmla="val 1136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Metryka Human OS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675120" y="2514600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9631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spadek zależności od systemu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675120" y="3227832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320954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wzrost autonomii i sprawczości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675120" y="3941064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75120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32320" y="392277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jawność wpływu i ograniczeń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675120" y="4654296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4654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132320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wyjście, z którego da się skorzystać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675120" y="5349240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0" y="53492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001000" y="53492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malejąca niezbędność systemu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0080" y="62910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„Human OS wygrywa wtedy, gdy jest coraz mniej potrzebny” — to jedyny gen, który każe systemowi dążyć do własnego zaniku.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Obietnica i granice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Deklaracja jest tania — dlatego od razu towarzyszy jej lista rzeczy zakazanych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SZEŚĆ ZOBOWIĄZAŃ — OTO TRZY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55080" y="16276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SZEŚĆ ZAKAZÓW — OTO TRZY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1206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267712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267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9456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Pomaga rozumieć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98448" y="254203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zastępuje rozumienia ani nie odbiera decyzji.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51206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566160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493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Ujawnia niepewność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840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Zamiast ukrywać wątpliwość, pokazuje ją wprost.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12064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864608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98448" y="479145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Traktuje dane jak depozyt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98448" y="51389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Powierzony zasób, nigdy towar do sprzedania.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2011680"/>
            <a:ext cx="5193792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267712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11112" y="2267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13448" y="219456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Wyrocznia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13448" y="25420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rozstrzyga, co jest słuszne w czyimś życiu.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193792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3566160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11112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013448" y="3493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Lekarz, terapeuta, doktryna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13448" y="38404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zastępuje profesjonalnej opieki ani systemu wartości.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608576"/>
            <a:ext cx="5193792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4864608"/>
            <a:ext cx="274320" cy="274320"/>
          </a:xfrm>
          <a:prstGeom prst="ellipse">
            <a:avLst/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11112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13448" y="4791456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Platforma uzależniająca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013448" y="513892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optymalizuje czasu w aplikacji i nie rankinguje ludzi.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40080" y="62910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Źródło: constitution/README.md — „Obietnica systemu” i „Czym system nie jest”.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0" y="100584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1B24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9000" dirty="0"/>
          </a:p>
        </p:txBody>
      </p:sp>
      <p:sp>
        <p:nvSpPr>
          <p:cNvPr id="3" name="Shape 1"/>
          <p:cNvSpPr/>
          <p:nvPr/>
        </p:nvSpPr>
        <p:spPr>
          <a:xfrm>
            <a:off x="640080" y="214884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488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AKT 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Reguły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Obietnica, której nikt nie egzekwuje, jest marketingiem. Dlatego zasady zostały zapisane tak, żeby dało się je wykonać — i przetestować.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Pięć warstw, jeden kierunek zależności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Żadna niższa warstwa nie może po cichu redefiniować zasady warstwy wyższej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949440" cy="713232"/>
          </a:xfrm>
          <a:prstGeom prst="roundRect">
            <a:avLst>
              <a:gd name="adj" fmla="val 6410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7465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32688" y="2075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constitution/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337560" y="1691640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rozdziałów, 4 załączniki, 15 genów konstytucyjnych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 rot="10800000">
            <a:off x="3931920" y="2423160"/>
            <a:ext cx="310896" cy="146304"/>
          </a:xfrm>
          <a:prstGeom prst="triangle">
            <a:avLst/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587752"/>
            <a:ext cx="6949440" cy="713232"/>
          </a:xfrm>
          <a:prstGeom prst="roundRect">
            <a:avLst>
              <a:gd name="adj" fmla="val 6410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64261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HOSS / HOSP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2688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spec/, protocol/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37560" y="2587752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przenośne kontrakty i podpisane koperty komunikatów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10800000">
            <a:off x="3931920" y="3319272"/>
            <a:ext cx="310896" cy="146304"/>
          </a:xfrm>
          <a:prstGeom prst="triangle">
            <a:avLst/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483864"/>
            <a:ext cx="6949440" cy="713232"/>
          </a:xfrm>
          <a:prstGeom prst="roundRect">
            <a:avLst>
              <a:gd name="adj" fmla="val 6410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53872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32688" y="38679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hos_engine/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37560" y="3483864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wykonywalna implementacja referencyjna w Pythonie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 rot="10800000">
            <a:off x="3931920" y="4215384"/>
            <a:ext cx="310896" cy="146304"/>
          </a:xfrm>
          <a:prstGeom prst="triangle">
            <a:avLst/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79976"/>
            <a:ext cx="6949440" cy="713232"/>
          </a:xfrm>
          <a:prstGeom prst="roundRect">
            <a:avLst>
              <a:gd name="adj" fmla="val 6410"/>
            </a:avLst>
          </a:prstGeom>
          <a:solidFill>
            <a:srgbClr val="1B2450"/>
          </a:solidFill>
          <a:ln w="12700">
            <a:solidFill>
              <a:srgbClr val="1B24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44348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/ Hub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2688" y="476402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sdk/, hub/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37560" y="4379976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weryfikacja zgody, poświadczenia, odkrywanie usług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10800000">
            <a:off x="3931920" y="5111496"/>
            <a:ext cx="310896" cy="146304"/>
          </a:xfrm>
          <a:prstGeom prst="triangle">
            <a:avLst/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5276088"/>
            <a:ext cx="6949440" cy="713232"/>
          </a:xfrm>
          <a:prstGeom prst="roundRect">
            <a:avLst>
              <a:gd name="adj" fmla="val 6410"/>
            </a:avLst>
          </a:prstGeom>
          <a:solidFill>
            <a:srgbClr val="5B6280"/>
          </a:solidFill>
          <a:ln w="12700">
            <a:solidFill>
              <a:srgbClr val="5B6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53309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2688" y="56601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app/, apps/user-demo/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37560" y="5276088"/>
            <a:ext cx="4114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cienkie klienty — bez własnej logiki polityk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01000" y="1691640"/>
            <a:ext cx="3547872" cy="214884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Zasada nadrzędności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275320" y="22402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Każde wydanie deklaruje zgodne wersje, wpływ migracji, wpływ na bezpieczeństwo i znane ograniczenia. Reguł nie da się obejść „w dół” stosu.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01000" y="4023360"/>
            <a:ext cx="3547872" cy="20574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275320" y="42062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Gdzie żyje polityka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75320" y="457200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Cała logika konstytucyjna należy do silnika. Aplikacja demonstracyjna i konsola Proof Kernel są klientami — nie mają własnych reguł.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Genom konstytucyjny: 15 genów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Każda materialna zmiana deklaruje, które geny wspiera i które stawia pod ryzykiem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99339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41248" y="22860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Prymat człowieka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44368" y="1828800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45536" y="199339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45536" y="22860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Autorstwo życia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1828800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9824" y="199339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49824" y="22860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552944" y="1828800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54112" y="199339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54112" y="22860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Świadomy wybór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857232" y="1828800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0" y="1993392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058400" y="228600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Odpowiedzialność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127248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329184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41248" y="3584448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Twórcza sprawczość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44368" y="3127248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45536" y="329184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GEN-007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145536" y="3584448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Generatywny przepływ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48656" y="3127248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49824" y="329184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GEN-008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49824" y="3584448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Symbioza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552944" y="3127248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54112" y="329184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GEN-009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754112" y="3584448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Dobrowolność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857232" y="3127248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0" y="329184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058400" y="3584448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Prywatność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4425696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1248" y="4590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GEN-011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41248" y="4882896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Niezawłaszczanie wartości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44368" y="4425696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45536" y="4590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GEN-012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145536" y="4882896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Malejąca niezbędność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248656" y="4425696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49824" y="4590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GEN-013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49824" y="4882896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Różnorodność dróg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552944" y="4425696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54112" y="4590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GEN-014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54112" y="4882896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Odwracalność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857232" y="4425696"/>
            <a:ext cx="2176272" cy="1115568"/>
          </a:xfrm>
          <a:prstGeom prst="roundRect">
            <a:avLst>
              <a:gd name="adj" fmla="val 4098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58400" y="459028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7D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GEN-015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058400" y="4882896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Transparentność wpływu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40080" y="62910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genome.registry.json v0.2.0 — geny deklaruje się w każdym pull requeście (CONTRIBUTING.md).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Kernel: 9 testów, 6 werdyktów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evaluate_action() — każde działanie przechodzi test konstytucyjny przed wykonaniem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98932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4708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Testy konstytucyjne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286000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57400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Autorstwo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67328" y="2286000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67328" y="22860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0328" y="22860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962656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9626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57400" y="29626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Generatywność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767328" y="2962656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67328" y="296265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10328" y="296265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Ekstrakcja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3639312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6393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057400" y="36393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67328" y="3639312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67328" y="36393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10328" y="36393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Odwracalność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4315968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43159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57400" y="4315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Zależność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767328" y="4315968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67328" y="43159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10328" y="4315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Przenośność i wyjście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4400" y="4992624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92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057400" y="499262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Transparentność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903720" y="1691640"/>
            <a:ext cx="4645152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178040" y="184708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Możliwe werdykty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178040" y="2286000"/>
            <a:ext cx="4096512" cy="457200"/>
          </a:xfrm>
          <a:prstGeom prst="roundRect">
            <a:avLst>
              <a:gd name="adj" fmla="val 10000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60920" y="2286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178040" y="2852928"/>
            <a:ext cx="4096512" cy="457200"/>
          </a:xfrm>
          <a:prstGeom prst="roundRect">
            <a:avLst>
              <a:gd name="adj" fmla="val 10000"/>
            </a:avLst>
          </a:prstGeom>
          <a:solidFill>
            <a:srgbClr val="4F9AA8"/>
          </a:solidFill>
          <a:ln w="12700">
            <a:solidFill>
              <a:srgbClr val="4F9AA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60920" y="2852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APPROVED_WITH_LIMITS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178040" y="3419856"/>
            <a:ext cx="4096512" cy="457200"/>
          </a:xfrm>
          <a:prstGeom prst="roundRect">
            <a:avLst>
              <a:gd name="adj" fmla="val 10000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60920" y="34198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REQUIRES_CONSENT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178040" y="3986784"/>
            <a:ext cx="4096512" cy="457200"/>
          </a:xfrm>
          <a:prstGeom prst="roundRect">
            <a:avLst>
              <a:gd name="adj" fmla="val 10000"/>
            </a:avLst>
          </a:prstGeom>
          <a:solidFill>
            <a:srgbClr val="C07A22"/>
          </a:solidFill>
          <a:ln w="12700">
            <a:solidFill>
              <a:srgbClr val="C07A2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6092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REQUIRES_HUMAN_DECISION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7178040" y="4553712"/>
            <a:ext cx="4096512" cy="457200"/>
          </a:xfrm>
          <a:prstGeom prst="roundRect">
            <a:avLst>
              <a:gd name="adj" fmla="val 10000"/>
            </a:avLst>
          </a:prstGeom>
          <a:solidFill>
            <a:srgbClr val="8A5A9E"/>
          </a:solidFill>
          <a:ln w="12700">
            <a:solidFill>
              <a:srgbClr val="8A5A9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60920" y="45537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REQUIRES_REDESIGN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178040" y="5120640"/>
            <a:ext cx="4096512" cy="457200"/>
          </a:xfrm>
          <a:prstGeom prst="roundRect">
            <a:avLst>
              <a:gd name="adj" fmla="val 10000"/>
            </a:avLst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60920" y="5120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CONSTITUTIONAL_VIOLATION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40080" y="62910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„Twarda brama przed punktacją” — odmowa nie jest błędem wykonania, tylko poprawnym wynikiem.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0" y="1005840"/>
            <a:ext cx="39319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0" b="1" dirty="0">
                <a:solidFill>
                  <a:srgbClr val="1B24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9000" dirty="0"/>
          </a:p>
        </p:txBody>
      </p:sp>
      <p:sp>
        <p:nvSpPr>
          <p:cNvPr id="3" name="Shape 1"/>
          <p:cNvSpPr/>
          <p:nvPr/>
        </p:nvSpPr>
        <p:spPr>
          <a:xfrm>
            <a:off x="640080" y="2148840"/>
            <a:ext cx="123444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488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AKT III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Podróż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Prześledźmy jedną intencję od początku do końca — z bramami, odmową, wątpliwością, hamulcem awaryjnym i wyjściem.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 jest przykładem ilustracyjnym, nie prawdziwym przypadkiem użytkownika.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Intencja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Wszystko zaczyna się od zdania wypowiedzianego przez człowieka — nie od decyzji systemu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035040" cy="2286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41732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HOS-INT-…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i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„Poukładaj mi plan zmiany pracy na najbliższy kwartał — sięgnij po moje notatki z ostatniego roku.”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6035040" cy="16002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43708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to trudna prośba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7091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Dotyka danych wrażliwych, wymaga działania agenta w jej imieniu i dotyczy decyzji życiowej, której nikt nie powinien podejmować za nią.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03720" y="1737360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Zanim cokolwiek się wydarzy, system musi odpowiedzieć sobie na trzy pytania: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03720" y="2423160"/>
            <a:ext cx="4645152" cy="960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178040" y="25694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Kto pyta?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78040" y="29169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tożsamość i rola, w jakiej występuje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03720" y="3566160"/>
            <a:ext cx="4645152" cy="960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78040" y="37124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 jest zgoda?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78040" y="40599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cel, zakres i czas — nie „zgoda na wszystko”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903720" y="4709160"/>
            <a:ext cx="4645152" cy="960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178040" y="485546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wolno to zrobić?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178040" y="52029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dziewięć testów konstytucyjnych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Sześć bram przed działaniem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Każda brama zadaje jedno pytanie. Pierwsza odmowa kończy sprawę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566928"/>
          </a:xfrm>
          <a:prstGeom prst="roundRect">
            <a:avLst>
              <a:gd name="adj" fmla="val 806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92808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928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TOŻSAMOŚĆ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154680" y="1737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prośba pochodzi od Marty, a nie od czegoś, co się nią podszywa?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966960" y="189280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6960" y="1892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PRZECHODZI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423160"/>
            <a:ext cx="10908792" cy="566928"/>
          </a:xfrm>
          <a:prstGeom prst="roundRect">
            <a:avLst>
              <a:gd name="adj" fmla="val 806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578608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5786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ROLA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154680" y="24231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jakiej roli występuje? Jako właścicielka tych danych, nie jako agent.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966960" y="257860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6960" y="2578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PRZECHODZI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10908792" cy="566928"/>
          </a:xfrm>
          <a:prstGeom prst="roundRect">
            <a:avLst>
              <a:gd name="adj" fmla="val 806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264408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2644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ZGODA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154680" y="31089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Czy jest zgoda na notatki z ostatniego roku — w tym konkretnym celu?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966960" y="326440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66960" y="32644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BRAK ZGODY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40080" y="3794760"/>
            <a:ext cx="1090879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3950208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39502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KONTEKST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154680" y="37947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zostaje uruchomiona.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966960" y="395020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66960" y="3950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4480560"/>
            <a:ext cx="1090879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4636008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46360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· ENCJE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154680" y="44805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zostaje uruchomiona.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9966960" y="463600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66960" y="46360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166360"/>
            <a:ext cx="10908792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" y="5321808"/>
            <a:ext cx="2057400" cy="256032"/>
          </a:xfrm>
          <a:prstGeom prst="roundRect">
            <a:avLst>
              <a:gd name="adj" fmla="val 21429"/>
            </a:avLst>
          </a:prstGeom>
          <a:solidFill>
            <a:srgbClr val="C9CEE0"/>
          </a:solidFill>
          <a:ln w="12700">
            <a:solidFill>
              <a:srgbClr val="C9CE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3218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· KONSTYTUCJA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154680" y="5166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zostaje uruchomiona.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966960" y="532180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5321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0080" y="5852160"/>
            <a:ext cx="10908792" cy="502920"/>
          </a:xfrm>
          <a:prstGeom prst="roundRect">
            <a:avLst>
              <a:gd name="adj" fmla="val 9091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4400" y="5971032"/>
            <a:ext cx="192024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5971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REFUSED_CONSENT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063240" y="58521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Pętla zatrzymuje się, zanim cokolwiek zostanie wykonane lub zapisane.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Odmowa, która nie jest błędem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 jest wynikiem pierwszej klasy — nie wyjątkiem, nie ciszą, nie awarią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9496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Marta widzi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2423160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23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23865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Czego zabrakło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417320" y="267919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zgody na notatki z ostatniego roku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227832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319125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jakim celu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17320" y="348386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wyłącznie ułożenie planu, nic poza tym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4032504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032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7320" y="39959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jak długo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17320" y="42885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zakres i czas deklarowane z góry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0120" y="4837176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837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1732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się nie stało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41732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żadne dane nie zostały odczytane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17373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DRUGIE PODEJŚCIE — ZGODA ZAKRESOWA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29400" y="2148840"/>
            <a:ext cx="4919472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903720" y="227685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Bramy 1–6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903720" y="26060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przechodzą — zgoda ma cel, zakres i czas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383280"/>
            <a:ext cx="4919472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03720" y="35112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Kernel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03720" y="38404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APPROVED_WITH_LIMITS (PROOF-003)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629400" y="4617720"/>
            <a:ext cx="4919472" cy="1051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03720" y="474573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to znaczy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03720" y="5074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wraca jako szkic do redakcji, nie gotowa decyzja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629400" y="5742432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potem, już bez pytania: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629400" y="6035040"/>
            <a:ext cx="4919472" cy="256032"/>
          </a:xfrm>
          <a:prstGeom prst="roundRect">
            <a:avLst>
              <a:gd name="adj" fmla="val 21429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6035040"/>
            <a:ext cx="4919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AGENT  ·  8 POŚWIADCZENIE  ·  9 ZDARZENIE  ·  10 AUDYT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Kiedy system nie wie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Najtrudniejsza umiejętność doradcy: powiedzieć „wstrzymuję się” zamiast zgadywać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5532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Notatki Marty przeczą sobie nawzajem: w marcu pisała, że chce stabilności, w listopadzie — że dusi się w tej pracy. Zwykły ranking wybrałby po prostu wyżej punktowany wariant.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5532120" cy="2395728"/>
          </a:xfrm>
          <a:prstGeom prst="roundRect">
            <a:avLst>
              <a:gd name="adj" fmla="val 1527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3291840"/>
            <a:ext cx="283464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32918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CONTRADICTORY_EVIDENCE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60120" y="37033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OS nie rankinguje. Wstrzymuje się i mówi, dlaczego.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44348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Sprzeczność wraca do Marty jako pytanie, nie znika w uśrednionej rekomendacji. Rozstrzygnięcie należy do niej.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17373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OSIEM NAZWANYCH POWODÓW WSTRZYMANIA SIĘ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9400" y="2148840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0" y="2148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NO_CLEAR_GOAL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2624328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2432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INSUFFICIENT_DATA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29400" y="3099816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309981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VALUE_CONFLICT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29400" y="3575304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35753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CONTRADICTORY_EVIDENCE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29400" y="4050792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405079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NOT_MONITORABLE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29400" y="4526280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0" y="4526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EXCESSIVE_RISK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29400" y="5001768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50017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BEYOND_COMPETENCE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29400" y="5477256"/>
            <a:ext cx="4919472" cy="384048"/>
          </a:xfrm>
          <a:prstGeom prst="roundRect">
            <a:avLst>
              <a:gd name="adj" fmla="val 11905"/>
            </a:avLst>
          </a:prstGeom>
          <a:solidFill>
            <a:srgbClr val="F2F4FA"/>
          </a:solidFill>
          <a:ln w="12700">
            <a:solidFill>
              <a:srgbClr val="DFE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5477256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SUSPECTED_CRISIS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62910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Abstencja i eskalacja są osobnymi rodzajami wyniku — nigdy wyjątkami (ADR-DECISION-003).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Kiedy system się myli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siebie jest hipotezą o człowieku — i tylko ten człowiek może ją zatwierdzić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02152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137160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9385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DEKLARACJA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96112" y="234086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„Zmieniam branżę.” — powiedziała to wprost.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737360"/>
            <a:ext cx="3502152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81144" y="1938528"/>
            <a:ext cx="1371600" cy="256032"/>
          </a:xfrm>
          <a:prstGeom prst="roundRect">
            <a:avLst>
              <a:gd name="adj" fmla="val 21429"/>
            </a:avLst>
          </a:prstGeom>
          <a:solidFill>
            <a:srgbClr val="4F9AA8"/>
          </a:solidFill>
          <a:ln w="12700">
            <a:solidFill>
              <a:srgbClr val="4F9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81144" y="19385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OBSERWACJA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81144" y="234086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Wieczorami wraca do notatek o projektach.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10144" y="1737360"/>
            <a:ext cx="3502152" cy="1572768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66176" y="1938528"/>
            <a:ext cx="13716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19385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HIPOTEZA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66176" y="2340864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„Unikasz ryzyka.” — domysł systemu.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520440"/>
            <a:ext cx="10908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Marta czyta hipotezę i mówi: nieprawda.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069080"/>
            <a:ext cx="26060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68680" y="4279392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79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4645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znika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495604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Hipoteza dostaje status CONTESTED — zapis zostaje, historia też.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10712" y="4069080"/>
            <a:ext cx="26060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39312" y="4279392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39312" y="4279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39312" y="4645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nadpisuje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639312" y="495604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Korekta tworzy nową wersję przez łańcuch „supersedes”.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81344" y="4069080"/>
            <a:ext cx="26060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9944" y="4279392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9944" y="4279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9944" y="4645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Tłumaczy się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9944" y="495604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why() pokazuje cytat, autora, pasmo pewności i całą historię.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51976" y="4069080"/>
            <a:ext cx="2606040" cy="169164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180576" y="4279392"/>
            <a:ext cx="274320" cy="274320"/>
          </a:xfrm>
          <a:prstGeom prst="ellipse">
            <a:avLst/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80576" y="4279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80576" y="4645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awansuje sama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180576" y="495604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Hipoteza nigdy nie jest podawana dalej jako deklaracja.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29107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Sprzeczność między zapisami jest zachowywana jako sygnał — rozstrzyga ją tylko osoba, której dotyczy.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Hamulec, którego nie da się zabrać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Marta mówi „stop” — i to zdanie musi działać nawet wtedy, gdy reszta zawodzi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TRYBY OCHRONNE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automatyczne tylko za powiadomieniem · zawsze odwracalne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395728"/>
            <a:ext cx="5120640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39572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SAFE_MODE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2532888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53288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5120640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0175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READ_ONLY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00600" y="3154680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315468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639312"/>
            <a:ext cx="5120640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3931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FREEZE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00600" y="3776472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377647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4261104"/>
            <a:ext cx="5120640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26110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DISCONNECT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00600" y="4398264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4398264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TRYBY KONSEKWENTNE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2057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wyłącznie ręcznie · ROLLBACK i RECOVERY na dwa klucze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2395728"/>
            <a:ext cx="5193792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11112" y="239572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607040" y="2532888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07040" y="253288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55080" y="3017520"/>
            <a:ext cx="5193792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11112" y="30175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607040" y="3154680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07040" y="315468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55080" y="3639312"/>
            <a:ext cx="5193792" cy="530352"/>
          </a:xfrm>
          <a:prstGeom prst="roundRect">
            <a:avLst>
              <a:gd name="adj" fmla="val 689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11112" y="363931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607040" y="3776472"/>
            <a:ext cx="6858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07040" y="377647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5120640"/>
            <a:ext cx="3502152" cy="1097280"/>
          </a:xfrm>
          <a:prstGeom prst="roundRect">
            <a:avLst>
              <a:gd name="adj" fmla="val 416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52486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ma czego wyłączyć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59536" y="55595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istnieje API zmieniające politykę ani dziennik audytu.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325112" y="5120640"/>
            <a:ext cx="3502152" cy="1097280"/>
          </a:xfrm>
          <a:prstGeom prst="roundRect">
            <a:avLst>
              <a:gd name="adj" fmla="val 416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44568" y="52486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nigdy nie aktywuje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44568" y="55595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AGENT, SERVICE i SYSTEM_PROCESS dostają odmowę — a sama odmowa jest logowana.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10144" y="5120640"/>
            <a:ext cx="3502152" cy="1097280"/>
          </a:xfrm>
          <a:prstGeom prst="roundRect">
            <a:avLst>
              <a:gd name="adj" fmla="val 4167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0" y="52486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bez AI i bez sieci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229600" y="55595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Warstwa ratunkowa nie ma zależności od modelu ani od świata zewnętrznego.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Wyjście jest częścią umowy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Ostatni rozdział tej historii: Marta odchodzi — i to nie jest porażka systemu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85216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zabiera ze sobą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2468880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241401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dane i graf powiązań w otwartym JSON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3218688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17320" y="31638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metadane i rejestr zmian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3968496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historię wersji wycofanych — nic nie zostaje po cichu skasowane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60120" y="4718304"/>
            <a:ext cx="274320" cy="274320"/>
          </a:xfrm>
          <a:prstGeom prst="ellipse">
            <a:avLst/>
          </a:prstGeom>
          <a:solidFill>
            <a:srgbClr val="2F7D8E"/>
          </a:solidFill>
          <a:ln w="12700">
            <a:solidFill>
              <a:srgbClr val="2F7D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17320" y="46634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ślad audytowy: kto, kiedy, na jakiej podstawie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60120" y="5303520"/>
            <a:ext cx="105156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530352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48840" y="523036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tryb ręczny, klasa ryzyka R1 —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nigdy nie odbywa się bez jej decyzji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03720" y="1737360"/>
            <a:ext cx="4645152" cy="4023360"/>
          </a:xfrm>
          <a:prstGeom prst="roundRect">
            <a:avLst>
              <a:gd name="adj" fmla="val 1136"/>
            </a:avLst>
          </a:prstGeom>
          <a:solidFill>
            <a:srgbClr val="0F1533"/>
          </a:solidFill>
          <a:ln w="12700">
            <a:solidFill>
              <a:srgbClr val="0F15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23760" y="2011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Odejście jako dowód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23760" y="251460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Gdyby wyjście było trudne, cała reszta byłaby dekoracją. Kosztowne wyjście zamienia obietnicę autonomii w pułapkę — i to niezależnie od tego, jak dobre są intencje twórców.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23760" y="4114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Dlatego przenośność i wyjście mają własny test konstytucyjny (PROOF-008) i własny gen.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223760" y="5257800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52578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549640" y="5257800"/>
            <a:ext cx="1325880" cy="256032"/>
          </a:xfrm>
          <a:prstGeom prst="roundRect">
            <a:avLst>
              <a:gd name="adj" fmla="val 21429"/>
            </a:avLst>
          </a:prstGeom>
          <a:solidFill>
            <a:srgbClr val="1B2450"/>
          </a:solidFill>
          <a:ln w="12700">
            <a:solidFill>
              <a:srgbClr val="1B24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49640" y="52578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PROOF-008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5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Czego jeszcze nie ma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Historia, która chwali się tylko sukcesami, nie zasługuje na zaufanie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F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JUŻ DZIAŁA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4290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945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Podpisane koperty HOSP/0.2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25237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kanoniczny JSON, HMAC, znacznik protokołu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2011680"/>
            <a:ext cx="34290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1945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Rejestr tożsamości i kluczy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25237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rotacja kluczy, powiązanie klucza z tożsamością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34290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4930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ReplayGuard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38221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nonce, wygasanie, śledzenie identyfikatorów komunikatów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51960" y="3310128"/>
            <a:ext cx="34290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80560" y="349300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Jawne polityki zaufania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38221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TrustLevel i TrustPolicy zamiast domyślnego zaufania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608576"/>
            <a:ext cx="34290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7914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Gateway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dziesięciokrokowy potok kontroli przed wykonaniem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4608576"/>
            <a:ext cx="3429000" cy="1115568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FE3EE"/>
            </a:solidFill>
            <a:prstDash val="solid"/>
          </a:ln>
          <a:effectLst>
            <a:outerShdw sx="100000" sy="100000" kx="0" ky="0" algn="bl" rotWithShape="0" blurRad="101600" dist="12700" dir="5400000">
              <a:srgbClr val="9AA0B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480560" y="47914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Łańcuch skrótów SHA-256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5120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weryfikowalna integralność dziennika zdarzeń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01000" y="1627632"/>
            <a:ext cx="3547872" cy="4242816"/>
          </a:xfrm>
          <a:prstGeom prst="roundRect">
            <a:avLst>
              <a:gd name="adj" fmla="val 1289"/>
            </a:avLst>
          </a:prstGeom>
          <a:solidFill>
            <a:srgbClr val="9E2B32"/>
          </a:solidFill>
          <a:ln w="12700">
            <a:solidFill>
              <a:srgbClr val="9E2B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Nie jest produkcyjne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275320" y="23774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uwierzytelniania i autoryzacji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szyfrowania danych w spoczynku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niezależnego przeglądu bezpieczeństwa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kalibracji empirycznej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to mechanizm referencyjny, lokalny — nie podpis asymetryczny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75320" y="5394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2C9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security/THREAT_MODEL.md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Gdzie jesteśmy dzisiaj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33856"/>
            <a:ext cx="10908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Osiem etapów zamkniętych, jeden otwarty — i jeden, który jest celem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02152" cy="1508760"/>
          </a:xfrm>
          <a:prstGeom prst="roundRect">
            <a:avLst>
              <a:gd name="adj" fmla="val 2424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47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modułów silnika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hos_engine/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25112" y="1737360"/>
            <a:ext cx="3502152" cy="1508760"/>
          </a:xfrm>
          <a:prstGeom prst="roundRect">
            <a:avLst>
              <a:gd name="adj" fmla="val 2424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47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99432" y="25603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testów automatycznych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3.11 / 3.12 / 3.13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737360"/>
            <a:ext cx="3502152" cy="1508760"/>
          </a:xfrm>
          <a:prstGeom prst="roundRect">
            <a:avLst>
              <a:gd name="adj" fmla="val 2424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847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9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84464" y="25603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rekordów decyzji (ADR)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84464" y="28529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docs/adr/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5204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– 0.8   formalny rdzeń · specyfikacja · silnik polityk · trwały audyt · graf wiedzy · runtime agentów · symulacje · model człowieka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69080"/>
            <a:ext cx="10908792" cy="1005840"/>
          </a:xfrm>
          <a:prstGeom prst="roundRect">
            <a:avLst>
              <a:gd name="adj" fmla="val 4545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690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691640" y="42062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Interoperacyjność protokołu i przegląd bezpieczeństwa — OTWARTE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91640" y="4535424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Warstwy wykonawcze i plastry warstw 2–6 powstały równolegle i nie zastępują tego punktu.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212080"/>
            <a:ext cx="10908792" cy="1005840"/>
          </a:xfrm>
          <a:prstGeom prst="roundRect">
            <a:avLst>
              <a:gd name="adj" fmla="val 4545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212080"/>
            <a:ext cx="731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9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691640" y="53492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Stabilny protokół, silnik i runtime referencyjny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91640" y="5678424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Warunki: stabilna Konstytucja · wersjonowany protokół · migracje · udokumentowany przegląd bezpieczeństwa · pełna przenośność danych · mierzalna możliwość wyjścia.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5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463040"/>
            <a:ext cx="3410712" cy="3931920"/>
          </a:xfrm>
          <a:prstGeom prst="roundRect">
            <a:avLst>
              <a:gd name="adj" fmla="val 1340"/>
            </a:avLst>
          </a:prstGeom>
          <a:solidFill>
            <a:srgbClr val="1B2450"/>
          </a:solidFill>
          <a:ln w="12700">
            <a:solidFill>
              <a:srgbClr val="2B356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0" y="169164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9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dalej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4124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verify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0" y="24688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lint, typy i testy przed każdą zmianą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0" y="2971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run_demo.py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Proof Kernel od ręki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CONTRIBUTING.md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0" y="4023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deklaracja genów w każdym PR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0" y="4526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GOVERNANCE.md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0" y="48006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zmiana Konstytucji to osobna ścieżka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Kto jest autorem twojego dnia?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7040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Ty.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ma tylko pilnować,</a:t>
            </a:r>
            <a:endParaRPr lang="en-US" sz="32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żeby tak zostało.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0080" y="48006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mechanizm z tej opowieści — bramy, odmowa, abstencja, korekta, hamulec, eksport — służy jednemu kryterium: żeby po roku korzystania człowiek był bardziej samodzielny, a nie bardziej związany.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943600"/>
            <a:ext cx="1143000" cy="256032"/>
          </a:xfrm>
          <a:prstGeom prst="roundRect">
            <a:avLst>
              <a:gd name="adj" fmla="val 21429"/>
            </a:avLst>
          </a:prstGeom>
          <a:solidFill>
            <a:srgbClr val="D99A2B"/>
          </a:solidFill>
          <a:ln w="12700">
            <a:solidFill>
              <a:srgbClr val="D99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9436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5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GEN-012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65960" y="5943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github.com/dudsi101-svg/human-os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OS — opowieść o autorstwie własnego życia</dc:title>
  <dc:subject>PptxGenJS Presentation</dc:subject>
  <dc:creator>Human OS Initiative</dc:creator>
  <cp:lastModifiedBy>Human OS Initiative</cp:lastModifiedBy>
  <cp:revision>1</cp:revision>
  <dcterms:created xsi:type="dcterms:W3CDTF">2026-08-17T13:32:06Z</dcterms:created>
  <dcterms:modified xsi:type="dcterms:W3CDTF">2026-08-17T13:32:06Z</dcterms:modified>
</cp:coreProperties>
</file>